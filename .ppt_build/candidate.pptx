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5a11dd3a12a4dc4" /><Relationship Type="http://schemas.openxmlformats.org/officeDocument/2006/relationships/extended-properties" Target="/docProps/app.xml" Id="Rd38567203fce459c" /><Relationship Type="http://schemas.openxmlformats.org/officeDocument/2006/relationships/officeDocument" Target="/ppt/presentation.xml" Id="R1985c74eef574dbf" /></Relationships>
</file>

<file path=ppt/presentation.xml><?xml version="1.0" encoding="utf-8"?>
<p:presentation xmlns:p="http://schemas.openxmlformats.org/presentationml/2006/main">
  <p:sldMasterIdLst>
    <p:sldMasterId xmlns:r="http://schemas.openxmlformats.org/officeDocument/2006/relationships" id="2147483648" r:id="R0742cae691264f58"/>
  </p:sldMasterIdLst>
  <p:notesMasterIdLst>
    <p:notesMasterId xmlns:r="http://schemas.openxmlformats.org/officeDocument/2006/relationships" r:id="R3a5dacffb1324fb8"/>
  </p:notesMasterIdLst>
  <p:sldIdLst>
    <p:sldId xmlns:r="http://schemas.openxmlformats.org/officeDocument/2006/relationships" id="256" r:id="R9f096bef8ce84593"/>
    <p:sldId xmlns:r="http://schemas.openxmlformats.org/officeDocument/2006/relationships" id="257" r:id="R3b281137a5804a6b"/>
    <p:sldId xmlns:r="http://schemas.openxmlformats.org/officeDocument/2006/relationships" id="258" r:id="Rdc9fc8e28a3d4647"/>
    <p:sldId xmlns:r="http://schemas.openxmlformats.org/officeDocument/2006/relationships" id="259" r:id="Rf53abfedb439474e"/>
  </p:sldIdLst>
  <p:sldSz cx="12192000" cy="6858000"/>
  <p:notesSz cx="6858000" cy="9144000"/>
  <p:defaultText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e87f71d93b1d4b91" /><Relationship Type="http://schemas.openxmlformats.org/officeDocument/2006/relationships/slideMaster" Target="/ppt/slideMasters/slideMaster1.xml" Id="R0742cae691264f58" /><Relationship Type="http://schemas.openxmlformats.org/officeDocument/2006/relationships/notesMaster" Target="/ppt/notesMasters/notesMaster1.xml" Id="R3a5dacffb1324fb8" /><Relationship Type="http://schemas.openxmlformats.org/officeDocument/2006/relationships/presProps" Target="/ppt/presProps.xml" Id="R8c79f2da02084c33" /><Relationship Type="http://schemas.openxmlformats.org/officeDocument/2006/relationships/viewProps" Target="/ppt/viewProps.xml" Id="Re086859abf0046f0" /><Relationship Type="http://schemas.openxmlformats.org/officeDocument/2006/relationships/tableStyles" Target="/ppt/tableStyles.xml" Id="Rd12be9be8cab4920" /><Relationship Type="http://schemas.openxmlformats.org/officeDocument/2006/relationships/slide" Target="/ppt/slides/slide1.xml" Id="R9f096bef8ce84593" /><Relationship Type="http://schemas.openxmlformats.org/officeDocument/2006/relationships/slide" Target="/ppt/slides/slide2.xml" Id="R3b281137a5804a6b" /><Relationship Type="http://schemas.openxmlformats.org/officeDocument/2006/relationships/slide" Target="/ppt/slides/slide3.xml" Id="Rdc9fc8e28a3d4647" /><Relationship Type="http://schemas.openxmlformats.org/officeDocument/2006/relationships/slide" Target="/ppt/slides/slide4.xml" Id="Rf53abfedb439474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8fa80df54f749b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40083293bda424f" /><Relationship Type="http://schemas.openxmlformats.org/officeDocument/2006/relationships/notesMaster" Target="/ppt/notesMasters/notesMaster1.xml" Id="R61c230a680ae412d" /></Relationships>
</file>

<file path=ppt/notesSlides/_rels/notesSlide2.xml.rels>&#65279;<?xml version="1.0" encoding="utf-8"?><Relationships xmlns="http://schemas.openxmlformats.org/package/2006/relationships"><Relationship Type="http://schemas.openxmlformats.org/officeDocument/2006/relationships/slide" Target="/ppt/slides/slide2.xml" Id="R222ae190ca864b16" /><Relationship Type="http://schemas.openxmlformats.org/officeDocument/2006/relationships/notesMaster" Target="/ppt/notesMasters/notesMaster1.xml" Id="R210344ca52864895" /></Relationships>
</file>

<file path=ppt/notesSlides/_rels/notesSlide3.xml.rels>&#65279;<?xml version="1.0" encoding="utf-8"?><Relationships xmlns="http://schemas.openxmlformats.org/package/2006/relationships"><Relationship Type="http://schemas.openxmlformats.org/officeDocument/2006/relationships/slide" Target="/ppt/slides/slide3.xml" Id="R12858ebc2cb949d6" /><Relationship Type="http://schemas.openxmlformats.org/officeDocument/2006/relationships/notesMaster" Target="/ppt/notesMasters/notesMaster1.xml" Id="Rfc1473a939514906" /></Relationships>
</file>

<file path=ppt/notesSlides/_rels/notesSlide4.xml.rels>&#65279;<?xml version="1.0" encoding="utf-8"?><Relationships xmlns="http://schemas.openxmlformats.org/package/2006/relationships"><Relationship Type="http://schemas.openxmlformats.org/officeDocument/2006/relationships/slide" Target="/ppt/slides/slide4.xml" Id="R5192fb83c2d34df1" /><Relationship Type="http://schemas.openxmlformats.org/officeDocument/2006/relationships/notesMaster" Target="/ppt/notesMasters/notesMaster1.xml" Id="R8dc1836c42ff409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Dashboard retrieval flow: the frontend requests a selected date range. Python validates access and reads daily_values from the database. It aligns stored data, builds daily or weekly summaries, and serializes JSON. The frontend maps the returned output to sleep, heart rate and steps displays. Resting heart rate remains null when unavailable. Intraday heart rate charts require a separate sample retrieval endpoint. This slide extends the original processing and storage 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784686518f44b32"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6841cbefb5645f0" /><Relationship Type="http://schemas.openxmlformats.org/officeDocument/2006/relationships/slideLayout" Target="/ppt/slideLayouts/slideLayout1.xml" Id="R88f79a144be34d2d"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8f79a144be34d2d"/>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3ddeb689e0140f9" /><Relationship Type="http://schemas.openxmlformats.org/officeDocument/2006/relationships/notesSlide" Target="/ppt/notesSlides/notesSlide1.xml" Id="R362f2c0f230b425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6a49b31c2dd44cd" /><Relationship Type="http://schemas.openxmlformats.org/officeDocument/2006/relationships/notesSlide" Target="/ppt/notesSlides/notesSlide2.xml" Id="R52efee26669e4f1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48f151b8ccb4c07" /><Relationship Type="http://schemas.openxmlformats.org/officeDocument/2006/relationships/notesSlide" Target="/ppt/notesSlides/notesSlide3.xml" Id="R79270a44387445a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5cd757a3c7d4185" /><Relationship Type="http://schemas.openxmlformats.org/officeDocument/2006/relationships/notesSlide" Target="/ppt/notesSlides/notesSlide4.xml" Id="R4cdfe124e9df47ba"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F15D437-E067-42C2-8E46-E3C71F81786E}"/>
              </a:ext>
            </a:extLst>
          </p:cNvPr>
          <p:cNvSpPr>
            <a:spLocks xmlns:a="http://schemas.openxmlformats.org/drawingml/2006/main" noGrp="1"/>
          </p:cNvSpPr>
          <p:nvPr/>
        </p:nvSpPr>
        <p:spPr>
          <a:xfrm xmlns:a="http://schemas.openxmlformats.org/drawingml/2006/main">
            <a:off x="320040" y="54864"/>
            <a:ext cx="115214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1F2937"/>
                </a:solidFill>
              </a:rPr>
              <a:t>2c Processing: detailed schematic</a:t>
            </a:r>
            <a:endParaRPr sz="1600"/>
          </a:p>
        </p:txBody>
      </p:sp>
      <p:sp>
        <p:nvSpPr>
          <p:cNvPr id="3" name="Text 1">
            <a:extLst xmlns:a="http://schemas.openxmlformats.org/drawingml/2006/main">
              <a:ext uri="{FF2B5EF4-FFF2-40B4-BE49-F238E27FC236}">
                <a16:creationId xmlns:a16="http://schemas.microsoft.com/office/drawing/2014/main" id="{702BFD93-CDBA-41A0-838F-B0B501C8B06D}"/>
              </a:ext>
            </a:extLst>
          </p:cNvPr>
          <p:cNvSpPr>
            <a:spLocks xmlns:a="http://schemas.openxmlformats.org/drawingml/2006/main" noGrp="1"/>
          </p:cNvSpPr>
          <p:nvPr/>
        </p:nvSpPr>
        <p:spPr>
          <a:xfrm xmlns:a="http://schemas.openxmlformats.org/drawingml/2006/main">
            <a:off x="320040" y="365760"/>
            <a:ext cx="1152144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a:solidFill>
                  <a:srgbClr val="6B7280"/>
                </a:solidFill>
              </a:rPr>
              <a:t>Part of: Data pipeline (our Python system) | Function tree: 3.1 - 3.3 | Presents data only, no assessment or advice</a:t>
            </a:r>
            <a:endParaRPr sz="900"/>
          </a:p>
        </p:txBody>
      </p:sp>
      <p:sp>
        <p:nvSpPr>
          <p:cNvPr id="4" name="Shape 2">
            <a:extLst xmlns:a="http://schemas.openxmlformats.org/drawingml/2006/main">
              <a:ext uri="{FF2B5EF4-FFF2-40B4-BE49-F238E27FC236}">
                <a16:creationId xmlns:a16="http://schemas.microsoft.com/office/drawing/2014/main" id="{BE3AB281-49FE-420D-9ACC-0285BF9D4725}"/>
              </a:ext>
            </a:extLst>
          </p:cNvPr>
          <p:cNvSpPr>
            <a:spLocks xmlns:a="http://schemas.openxmlformats.org/drawingml/2006/main" noGrp="1"/>
          </p:cNvSpPr>
          <p:nvPr/>
        </p:nvSpPr>
        <p:spPr>
          <a:xfrm xmlns:a="http://schemas.openxmlformats.org/drawingml/2006/main">
            <a:off x="182880" y="621792"/>
            <a:ext cx="11795760" cy="4818888"/>
          </a:xfrm>
          <a:prstGeom xmlns:a="http://schemas.openxmlformats.org/drawingml/2006/main" prst="rect">
            <a:avLst/>
          </a:prstGeom>
          <a:solidFill xmlns:a="http://schemas.openxmlformats.org/drawingml/2006/main">
            <a:srgbClr val="FAF9FF"/>
          </a:solidFill>
          <a:ln xmlns:a="http://schemas.openxmlformats.org/drawingml/2006/main" w="15875">
            <a:solidFill>
              <a:srgbClr val="A78BFA"/>
            </a:solidFill>
            <a:prstDash val="solid"/>
          </a:ln>
        </p:spPr>
      </p:sp>
      <p:sp>
        <p:nvSpPr>
          <p:cNvPr id="5" name="Text 3">
            <a:extLst xmlns:a="http://schemas.openxmlformats.org/drawingml/2006/main">
              <a:ext uri="{FF2B5EF4-FFF2-40B4-BE49-F238E27FC236}">
                <a16:creationId xmlns:a16="http://schemas.microsoft.com/office/drawing/2014/main" id="{C14CB821-C7A7-4E29-8F94-48C05D1E6204}"/>
              </a:ext>
            </a:extLst>
          </p:cNvPr>
          <p:cNvSpPr>
            <a:spLocks xmlns:a="http://schemas.openxmlformats.org/drawingml/2006/main" noGrp="1"/>
          </p:cNvSpPr>
          <p:nvPr/>
        </p:nvSpPr>
        <p:spPr>
          <a:xfrm xmlns:a="http://schemas.openxmlformats.org/drawingml/2006/main">
            <a:off x="274320" y="640080"/>
            <a:ext cx="91440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b="1">
                <a:solidFill>
                  <a:srgbClr val="5B21B6"/>
                </a:solidFill>
              </a:rPr>
              <a:t>2  Data pipeline: processing</a:t>
            </a:r>
            <a:endParaRPr sz="900"/>
          </a:p>
        </p:txBody>
      </p:sp>
      <p:sp>
        <p:nvSpPr>
          <p:cNvPr id="6" name="Shape 4">
            <a:extLst xmlns:a="http://schemas.openxmlformats.org/drawingml/2006/main">
              <a:ext uri="{FF2B5EF4-FFF2-40B4-BE49-F238E27FC236}">
                <a16:creationId xmlns:a16="http://schemas.microsoft.com/office/drawing/2014/main" id="{184A0941-62C1-4FAC-BF31-C17186ACD37B}"/>
              </a:ext>
            </a:extLst>
          </p:cNvPr>
          <p:cNvSpPr>
            <a:spLocks xmlns:a="http://schemas.openxmlformats.org/drawingml/2006/main" noGrp="1"/>
          </p:cNvSpPr>
          <p:nvPr/>
        </p:nvSpPr>
        <p:spPr>
          <a:xfrm xmlns:a="http://schemas.openxmlformats.org/drawingml/2006/main">
            <a:off x="274320" y="868680"/>
            <a:ext cx="11612880" cy="1444752"/>
          </a:xfrm>
          <a:prstGeom xmlns:a="http://schemas.openxmlformats.org/drawingml/2006/main" prst="rect">
            <a:avLst/>
          </a:prstGeom>
          <a:ln xmlns:a="http://schemas.openxmlformats.org/drawingml/2006/main" w="12700">
            <a:solidFill>
              <a:srgbClr val="9CA3AF"/>
            </a:solidFill>
            <a:prstDash val="dash"/>
          </a:ln>
        </p:spPr>
      </p:sp>
      <p:sp>
        <p:nvSpPr>
          <p:cNvPr id="7" name="Text 5">
            <a:extLst xmlns:a="http://schemas.openxmlformats.org/drawingml/2006/main">
              <a:ext uri="{FF2B5EF4-FFF2-40B4-BE49-F238E27FC236}">
                <a16:creationId xmlns:a16="http://schemas.microsoft.com/office/drawing/2014/main" id="{C9B0A9EE-F10B-43FD-A011-2E406AF35173}"/>
              </a:ext>
            </a:extLst>
          </p:cNvPr>
          <p:cNvSpPr>
            <a:spLocks xmlns:a="http://schemas.openxmlformats.org/drawingml/2006/main" noGrp="1"/>
          </p:cNvSpPr>
          <p:nvPr/>
        </p:nvSpPr>
        <p:spPr>
          <a:xfrm xmlns:a="http://schemas.openxmlformats.org/drawingml/2006/main">
            <a:off x="365760" y="960120"/>
            <a:ext cx="11430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b="1">
                <a:solidFill>
                  <a:srgbClr val="334155"/>
                </a:solidFill>
              </a:rPr>
              <a:t>Read and align</a:t>
            </a:r>
            <a:endParaRPr sz="900"/>
          </a:p>
          <a:p xmlns:a="http://schemas.openxmlformats.org/drawingml/2006/main">
            <a:pPr marL="0" indent="0">
              <a:buNone/>
            </a:pPr>
            <a:r>
              <a:rPr sz="700">
                <a:solidFill>
                  <a:srgbClr val="6B7280"/>
                </a:solidFill>
              </a:rPr>
              <a:t>pandas</a:t>
            </a:r>
            <a:endParaRPr sz="900"/>
          </a:p>
        </p:txBody>
      </p:sp>
      <p:sp>
        <p:nvSpPr>
          <p:cNvPr id="8" name="Shape 6">
            <a:extLst xmlns:a="http://schemas.openxmlformats.org/drawingml/2006/main">
              <a:ext uri="{FF2B5EF4-FFF2-40B4-BE49-F238E27FC236}">
                <a16:creationId xmlns:a16="http://schemas.microsoft.com/office/drawing/2014/main" id="{B870075A-E142-4D95-A109-16CA088DC0A5}"/>
              </a:ext>
            </a:extLst>
          </p:cNvPr>
          <p:cNvSpPr>
            <a:spLocks xmlns:a="http://schemas.openxmlformats.org/drawingml/2006/main" noGrp="1"/>
          </p:cNvSpPr>
          <p:nvPr/>
        </p:nvSpPr>
        <p:spPr>
          <a:xfrm xmlns:a="http://schemas.openxmlformats.org/drawingml/2006/main">
            <a:off x="274320" y="2377440"/>
            <a:ext cx="11612880" cy="1444752"/>
          </a:xfrm>
          <a:prstGeom xmlns:a="http://schemas.openxmlformats.org/drawingml/2006/main" prst="rect">
            <a:avLst/>
          </a:prstGeom>
          <a:ln xmlns:a="http://schemas.openxmlformats.org/drawingml/2006/main" w="12700">
            <a:solidFill>
              <a:srgbClr val="9CA3AF"/>
            </a:solidFill>
            <a:prstDash val="dash"/>
          </a:ln>
        </p:spPr>
      </p:sp>
      <p:sp>
        <p:nvSpPr>
          <p:cNvPr id="9" name="Text 7">
            <a:extLst xmlns:a="http://schemas.openxmlformats.org/drawingml/2006/main">
              <a:ext uri="{FF2B5EF4-FFF2-40B4-BE49-F238E27FC236}">
                <a16:creationId xmlns:a16="http://schemas.microsoft.com/office/drawing/2014/main" id="{4953490E-3EA1-49DB-BF14-88E4B77E06A7}"/>
              </a:ext>
            </a:extLst>
          </p:cNvPr>
          <p:cNvSpPr>
            <a:spLocks xmlns:a="http://schemas.openxmlformats.org/drawingml/2006/main" noGrp="1"/>
          </p:cNvSpPr>
          <p:nvPr/>
        </p:nvSpPr>
        <p:spPr>
          <a:xfrm xmlns:a="http://schemas.openxmlformats.org/drawingml/2006/main">
            <a:off x="365760" y="2468880"/>
            <a:ext cx="11430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b="1">
                <a:solidFill>
                  <a:srgbClr val="334155"/>
                </a:solidFill>
              </a:rPr>
              <a:t>Compute values</a:t>
            </a:r>
            <a:endParaRPr sz="900"/>
          </a:p>
          <a:p xmlns:a="http://schemas.openxmlformats.org/drawingml/2006/main">
            <a:pPr marL="0" indent="0">
              <a:buNone/>
            </a:pPr>
            <a:r>
              <a:rPr sz="700">
                <a:solidFill>
                  <a:srgbClr val="6B7280"/>
                </a:solidFill>
              </a:rPr>
              <a:t>sleep, heart rate, steps</a:t>
            </a:r>
            <a:endParaRPr sz="900"/>
          </a:p>
        </p:txBody>
      </p:sp>
      <p:sp>
        <p:nvSpPr>
          <p:cNvPr id="10" name="Shape 8">
            <a:extLst xmlns:a="http://schemas.openxmlformats.org/drawingml/2006/main">
              <a:ext uri="{FF2B5EF4-FFF2-40B4-BE49-F238E27FC236}">
                <a16:creationId xmlns:a16="http://schemas.microsoft.com/office/drawing/2014/main" id="{5618CDB6-58BB-4CD8-804B-E15CAAA6A416}"/>
              </a:ext>
            </a:extLst>
          </p:cNvPr>
          <p:cNvSpPr>
            <a:spLocks xmlns:a="http://schemas.openxmlformats.org/drawingml/2006/main" noGrp="1"/>
          </p:cNvSpPr>
          <p:nvPr/>
        </p:nvSpPr>
        <p:spPr>
          <a:xfrm xmlns:a="http://schemas.openxmlformats.org/drawingml/2006/main">
            <a:off x="274320" y="3886200"/>
            <a:ext cx="11612880" cy="1444752"/>
          </a:xfrm>
          <a:prstGeom xmlns:a="http://schemas.openxmlformats.org/drawingml/2006/main" prst="rect">
            <a:avLst/>
          </a:prstGeom>
          <a:ln xmlns:a="http://schemas.openxmlformats.org/drawingml/2006/main" w="12700">
            <a:solidFill>
              <a:srgbClr val="9CA3AF"/>
            </a:solidFill>
            <a:prstDash val="dash"/>
          </a:ln>
        </p:spPr>
      </p:sp>
      <p:sp>
        <p:nvSpPr>
          <p:cNvPr id="11" name="Text 9">
            <a:extLst xmlns:a="http://schemas.openxmlformats.org/drawingml/2006/main">
              <a:ext uri="{FF2B5EF4-FFF2-40B4-BE49-F238E27FC236}">
                <a16:creationId xmlns:a16="http://schemas.microsoft.com/office/drawing/2014/main" id="{6A9A16C7-9478-4F6D-8F34-A050C929D975}"/>
              </a:ext>
            </a:extLst>
          </p:cNvPr>
          <p:cNvSpPr>
            <a:spLocks xmlns:a="http://schemas.openxmlformats.org/drawingml/2006/main" noGrp="1"/>
          </p:cNvSpPr>
          <p:nvPr/>
        </p:nvSpPr>
        <p:spPr>
          <a:xfrm xmlns:a="http://schemas.openxmlformats.org/drawingml/2006/main">
            <a:off x="365760" y="3977640"/>
            <a:ext cx="11430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00" b="1">
                <a:solidFill>
                  <a:srgbClr val="334155"/>
                </a:solidFill>
              </a:rPr>
              <a:t>Write</a:t>
            </a:r>
            <a:endParaRPr sz="900"/>
          </a:p>
          <a:p xmlns:a="http://schemas.openxmlformats.org/drawingml/2006/main">
            <a:pPr marL="0" indent="0">
              <a:buNone/>
            </a:pPr>
            <a:r>
              <a:rPr sz="700">
                <a:solidFill>
                  <a:srgbClr val="6B7280"/>
                </a:solidFill>
              </a:rPr>
              <a:t>daily_values</a:t>
            </a:r>
            <a:endParaRPr sz="900"/>
          </a:p>
        </p:txBody>
      </p:sp>
      <p:sp>
        <p:nvSpPr>
          <p:cNvPr id="12" name="Shape 10">
            <a:extLst xmlns:a="http://schemas.openxmlformats.org/drawingml/2006/main">
              <a:ext uri="{FF2B5EF4-FFF2-40B4-BE49-F238E27FC236}">
                <a16:creationId xmlns:a16="http://schemas.microsoft.com/office/drawing/2014/main" id="{F8F3944C-AFCF-423F-A507-B55B0C722736}"/>
              </a:ext>
            </a:extLst>
          </p:cNvPr>
          <p:cNvSpPr>
            <a:spLocks xmlns:a="http://schemas.openxmlformats.org/drawingml/2006/main" noGrp="1"/>
          </p:cNvSpPr>
          <p:nvPr/>
        </p:nvSpPr>
        <p:spPr>
          <a:xfrm xmlns:a="http://schemas.openxmlformats.org/drawingml/2006/main">
            <a:off x="1600200" y="1225296"/>
            <a:ext cx="1005840" cy="566928"/>
          </a:xfrm>
          <a:prstGeom xmlns:a="http://schemas.openxmlformats.org/drawingml/2006/main" prst="roundRect">
            <a:avLst>
              <a:gd name="adj" fmla="val 6452"/>
            </a:avLst>
          </a:prstGeom>
          <a:solidFill xmlns:a="http://schemas.openxmlformats.org/drawingml/2006/main">
            <a:srgbClr val="EFF6FF"/>
          </a:solidFill>
          <a:ln xmlns:a="http://schemas.openxmlformats.org/drawingml/2006/main" w="11430">
            <a:solidFill>
              <a:srgbClr val="93C5FD"/>
            </a:solidFill>
            <a:prstDash val="solid"/>
          </a:ln>
        </p:spPr>
      </p:sp>
      <p:sp>
        <p:nvSpPr>
          <p:cNvPr id="13" name="Text 11">
            <a:extLst xmlns:a="http://schemas.openxmlformats.org/drawingml/2006/main">
              <a:ext uri="{FF2B5EF4-FFF2-40B4-BE49-F238E27FC236}">
                <a16:creationId xmlns:a16="http://schemas.microsoft.com/office/drawing/2014/main" id="{86B3E7BB-E48F-467A-B625-E73E46248831}"/>
              </a:ext>
            </a:extLst>
          </p:cNvPr>
          <p:cNvSpPr>
            <a:spLocks xmlns:a="http://schemas.openxmlformats.org/drawingml/2006/main" noGrp="1"/>
          </p:cNvSpPr>
          <p:nvPr/>
        </p:nvSpPr>
        <p:spPr>
          <a:xfrm xmlns:a="http://schemas.openxmlformats.org/drawingml/2006/main">
            <a:off x="1627632" y="1225296"/>
            <a:ext cx="950976"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750" b="1">
                <a:solidFill>
                  <a:srgbClr val="1D4ED8"/>
                </a:solidFill>
              </a:rPr>
              <a:t>Database</a:t>
            </a:r>
            <a:endParaRPr sz="750"/>
          </a:p>
          <a:p xmlns:a="http://schemas.openxmlformats.org/drawingml/2006/main">
            <a:pPr marL="0" indent="0" algn="ctr">
              <a:buNone/>
            </a:pPr>
            <a:r>
              <a:rPr sz="600">
                <a:solidFill>
                  <a:srgbClr val="1D4ED8"/>
                </a:solidFill>
              </a:rPr>
              <a:t>raw_readings, checkins</a:t>
            </a:r>
            <a:endParaRPr sz="750"/>
          </a:p>
        </p:txBody>
      </p:sp>
      <p:sp>
        <p:nvSpPr>
          <p:cNvPr id="14" name="Shape 12">
            <a:extLst xmlns:a="http://schemas.openxmlformats.org/drawingml/2006/main">
              <a:ext uri="{FF2B5EF4-FFF2-40B4-BE49-F238E27FC236}">
                <a16:creationId xmlns:a16="http://schemas.microsoft.com/office/drawing/2014/main" id="{F125E32A-F78D-476A-AEAF-6484D6576433}"/>
              </a:ext>
            </a:extLst>
          </p:cNvPr>
          <p:cNvSpPr>
            <a:spLocks xmlns:a="http://schemas.openxmlformats.org/drawingml/2006/main" noGrp="1"/>
          </p:cNvSpPr>
          <p:nvPr/>
        </p:nvSpPr>
        <p:spPr>
          <a:xfrm xmlns:a="http://schemas.openxmlformats.org/drawingml/2006/main">
            <a:off x="3108960" y="1225296"/>
            <a:ext cx="1005840" cy="566928"/>
          </a:xfrm>
          <a:prstGeom xmlns:a="http://schemas.openxmlformats.org/drawingml/2006/main" prst="roundRect">
            <a:avLst>
              <a:gd name="adj" fmla="val 6452"/>
            </a:avLst>
          </a:prstGeom>
          <a:solidFill xmlns:a="http://schemas.openxmlformats.org/drawingml/2006/main">
            <a:srgbClr val="F5F3FF"/>
          </a:solidFill>
          <a:ln xmlns:a="http://schemas.openxmlformats.org/drawingml/2006/main" w="11430">
            <a:solidFill>
              <a:srgbClr val="C4B5FD"/>
            </a:solidFill>
            <a:prstDash val="solid"/>
          </a:ln>
        </p:spPr>
      </p:sp>
      <p:sp>
        <p:nvSpPr>
          <p:cNvPr id="15" name="Text 13">
            <a:extLst xmlns:a="http://schemas.openxmlformats.org/drawingml/2006/main">
              <a:ext uri="{FF2B5EF4-FFF2-40B4-BE49-F238E27FC236}">
                <a16:creationId xmlns:a16="http://schemas.microsoft.com/office/drawing/2014/main" id="{45950EF9-37B5-4C6A-B9CC-76184D2CFB91}"/>
              </a:ext>
            </a:extLst>
          </p:cNvPr>
          <p:cNvSpPr>
            <a:spLocks xmlns:a="http://schemas.openxmlformats.org/drawingml/2006/main" noGrp="1"/>
          </p:cNvSpPr>
          <p:nvPr/>
        </p:nvSpPr>
        <p:spPr>
          <a:xfrm xmlns:a="http://schemas.openxmlformats.org/drawingml/2006/main">
            <a:off x="3136392" y="1225296"/>
            <a:ext cx="950976"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750" b="1">
                <a:solidFill>
                  <a:srgbClr val="5B21B6"/>
                </a:solidFill>
              </a:rPr>
              <a:t>Read raw data</a:t>
            </a:r>
            <a:endParaRPr sz="750"/>
          </a:p>
          <a:p xmlns:a="http://schemas.openxmlformats.org/drawingml/2006/main">
            <a:pPr marL="0" indent="0" algn="ctr">
              <a:buNone/>
            </a:pPr>
            <a:r>
              <a:rPr sz="600">
                <a:solidFill>
                  <a:srgbClr val="5B21B6"/>
                </a:solidFill>
              </a:rPr>
              <a:t>SQL query, pandas</a:t>
            </a:r>
            <a:endParaRPr sz="750"/>
          </a:p>
        </p:txBody>
      </p:sp>
      <p:sp>
        <p:nvSpPr>
          <p:cNvPr id="16" name="Shape 14">
            <a:extLst xmlns:a="http://schemas.openxmlformats.org/drawingml/2006/main">
              <a:ext uri="{FF2B5EF4-FFF2-40B4-BE49-F238E27FC236}">
                <a16:creationId xmlns:a16="http://schemas.microsoft.com/office/drawing/2014/main" id="{75F21CF0-36B2-4042-A3D6-4B1D75551328}"/>
              </a:ext>
            </a:extLst>
          </p:cNvPr>
          <p:cNvSpPr>
            <a:spLocks xmlns:a="http://schemas.openxmlformats.org/drawingml/2006/main" noGrp="1"/>
          </p:cNvSpPr>
          <p:nvPr/>
        </p:nvSpPr>
        <p:spPr>
          <a:xfrm xmlns:a="http://schemas.openxmlformats.org/drawingml/2006/main">
            <a:off x="4617720" y="1143000"/>
            <a:ext cx="1005840" cy="731520"/>
          </a:xfrm>
          <a:prstGeom xmlns:a="http://schemas.openxmlformats.org/drawingml/2006/main" prst="diamond">
            <a:avLst/>
          </a:prstGeom>
          <a:solidFill xmlns:a="http://schemas.openxmlformats.org/drawingml/2006/main">
            <a:srgbClr val="FFFFFF"/>
          </a:solidFill>
          <a:ln xmlns:a="http://schemas.openxmlformats.org/drawingml/2006/main" w="11430">
            <a:solidFill>
              <a:srgbClr val="111827"/>
            </a:solidFill>
            <a:prstDash val="solid"/>
          </a:ln>
        </p:spPr>
      </p:sp>
      <p:sp>
        <p:nvSpPr>
          <p:cNvPr id="17" name="Text 15">
            <a:extLst xmlns:a="http://schemas.openxmlformats.org/drawingml/2006/main">
              <a:ext uri="{FF2B5EF4-FFF2-40B4-BE49-F238E27FC236}">
                <a16:creationId xmlns:a16="http://schemas.microsoft.com/office/drawing/2014/main" id="{104ED504-E713-4775-999E-21846CA6F4C6}"/>
              </a:ext>
            </a:extLst>
          </p:cNvPr>
          <p:cNvSpPr>
            <a:spLocks xmlns:a="http://schemas.openxmlformats.org/drawingml/2006/main" noGrp="1"/>
          </p:cNvSpPr>
          <p:nvPr/>
        </p:nvSpPr>
        <p:spPr>
          <a:xfrm xmlns:a="http://schemas.openxmlformats.org/drawingml/2006/main">
            <a:off x="4818888" y="1143000"/>
            <a:ext cx="603504"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600">
                <a:solidFill>
                  <a:srgbClr val="111827"/>
                </a:solidFill>
              </a:rPr>
              <a:t>Enough valid</a:t>
            </a:r>
            <a:endParaRPr sz="600"/>
          </a:p>
          <a:p xmlns:a="http://schemas.openxmlformats.org/drawingml/2006/main">
            <a:pPr marL="0" indent="0" algn="ctr">
              <a:buNone/>
            </a:pPr>
            <a:r>
              <a:rPr sz="600">
                <a:solidFill>
                  <a:srgbClr val="111827"/>
                </a:solidFill>
              </a:rPr>
              <a:t>readings?</a:t>
            </a:r>
            <a:endParaRPr sz="600"/>
          </a:p>
        </p:txBody>
      </p:sp>
      <p:sp>
        <p:nvSpPr>
          <p:cNvPr id="18" name="Shape 16">
            <a:extLst xmlns:a="http://schemas.openxmlformats.org/drawingml/2006/main">
              <a:ext uri="{FF2B5EF4-FFF2-40B4-BE49-F238E27FC236}">
                <a16:creationId xmlns:a16="http://schemas.microsoft.com/office/drawing/2014/main" id="{2242141A-0DD0-4DA8-973C-240955830714}"/>
              </a:ext>
            </a:extLst>
          </p:cNvPr>
          <p:cNvSpPr>
            <a:spLocks xmlns:a="http://schemas.openxmlformats.org/drawingml/2006/main" noGrp="1"/>
          </p:cNvSpPr>
          <p:nvPr/>
        </p:nvSpPr>
        <p:spPr>
          <a:xfrm xmlns:a="http://schemas.openxmlformats.org/drawingml/2006/main">
            <a:off x="4617720" y="1965960"/>
            <a:ext cx="1005840" cy="347472"/>
          </a:xfrm>
          <a:prstGeom xmlns:a="http://schemas.openxmlformats.org/drawingml/2006/main" prst="roundRect">
            <a:avLst>
              <a:gd name="adj" fmla="val 7895"/>
            </a:avLst>
          </a:prstGeom>
          <a:solidFill xmlns:a="http://schemas.openxmlformats.org/drawingml/2006/main">
            <a:srgbClr val="FEF2F2"/>
          </a:solidFill>
          <a:ln xmlns:a="http://schemas.openxmlformats.org/drawingml/2006/main" w="11430">
            <a:solidFill>
              <a:srgbClr val="B91C1C"/>
            </a:solidFill>
            <a:prstDash val="solid"/>
          </a:ln>
        </p:spPr>
      </p:sp>
      <p:sp>
        <p:nvSpPr>
          <p:cNvPr id="19" name="Text 17">
            <a:extLst xmlns:a="http://schemas.openxmlformats.org/drawingml/2006/main">
              <a:ext uri="{FF2B5EF4-FFF2-40B4-BE49-F238E27FC236}">
                <a16:creationId xmlns:a16="http://schemas.microsoft.com/office/drawing/2014/main" id="{8DA82006-177A-4293-9049-77AF7BCBC680}"/>
              </a:ext>
            </a:extLst>
          </p:cNvPr>
          <p:cNvSpPr>
            <a:spLocks xmlns:a="http://schemas.openxmlformats.org/drawingml/2006/main" noGrp="1"/>
          </p:cNvSpPr>
          <p:nvPr/>
        </p:nvSpPr>
        <p:spPr>
          <a:xfrm xmlns:a="http://schemas.openxmlformats.org/drawingml/2006/main">
            <a:off x="4636008" y="1965960"/>
            <a:ext cx="969264"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550" b="1">
                <a:solidFill>
                  <a:srgbClr val="111827"/>
                </a:solidFill>
              </a:rPr>
              <a:t>Error 7: not enough data</a:t>
            </a:r>
            <a:endParaRPr sz="550"/>
          </a:p>
          <a:p xmlns:a="http://schemas.openxmlformats.org/drawingml/2006/main">
            <a:pPr marL="0" indent="0" algn="ctr">
              <a:buNone/>
            </a:pPr>
            <a:r>
              <a:rPr sz="550">
                <a:solidFill>
                  <a:srgbClr val="111827"/>
                </a:solidFill>
              </a:rPr>
              <a:t>day marked, not scored</a:t>
            </a:r>
            <a:endParaRPr sz="550"/>
          </a:p>
        </p:txBody>
      </p:sp>
      <p:sp>
        <p:nvSpPr>
          <p:cNvPr id="20" name="Shape 18">
            <a:extLst xmlns:a="http://schemas.openxmlformats.org/drawingml/2006/main">
              <a:ext uri="{FF2B5EF4-FFF2-40B4-BE49-F238E27FC236}">
                <a16:creationId xmlns:a16="http://schemas.microsoft.com/office/drawing/2014/main" id="{C66285C1-C40B-4A5D-8C45-701324D47625}"/>
              </a:ext>
            </a:extLst>
          </p:cNvPr>
          <p:cNvSpPr>
            <a:spLocks xmlns:a="http://schemas.openxmlformats.org/drawingml/2006/main" noGrp="1"/>
          </p:cNvSpPr>
          <p:nvPr/>
        </p:nvSpPr>
        <p:spPr>
          <a:xfrm xmlns:a="http://schemas.openxmlformats.org/drawingml/2006/main">
            <a:off x="5120640" y="1874520"/>
            <a:ext cx="0" cy="91440"/>
          </a:xfrm>
          <a:prstGeom xmlns:a="http://schemas.openxmlformats.org/drawingml/2006/main" prst="line">
            <a:avLst/>
          </a:prstGeom>
          <a:noFill xmlns:a="http://schemas.openxmlformats.org/drawingml/2006/main"/>
          <a:ln xmlns:a="http://schemas.openxmlformats.org/drawingml/2006/main" w="11430">
            <a:solidFill>
              <a:srgbClr val="B91C1C"/>
            </a:solidFill>
            <a:prstDash val="solid"/>
            <a:tailEnd type="triangle"/>
          </a:ln>
        </p:spPr>
      </p:sp>
      <p:sp>
        <p:nvSpPr>
          <p:cNvPr id="21" name="Text 19">
            <a:extLst xmlns:a="http://schemas.openxmlformats.org/drawingml/2006/main">
              <a:ext uri="{FF2B5EF4-FFF2-40B4-BE49-F238E27FC236}">
                <a16:creationId xmlns:a16="http://schemas.microsoft.com/office/drawing/2014/main" id="{8C10C90C-4F1D-44F1-BAF3-310C40D2EF40}"/>
              </a:ext>
            </a:extLst>
          </p:cNvPr>
          <p:cNvSpPr>
            <a:spLocks xmlns:a="http://schemas.openxmlformats.org/drawingml/2006/main" noGrp="1"/>
          </p:cNvSpPr>
          <p:nvPr/>
        </p:nvSpPr>
        <p:spPr>
          <a:xfrm xmlns:a="http://schemas.openxmlformats.org/drawingml/2006/main">
            <a:off x="5166360" y="1874520"/>
            <a:ext cx="137160" cy="914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600" b="1">
                <a:solidFill>
                  <a:srgbClr val="B91C1C"/>
                </a:solidFill>
              </a:rPr>
              <a:t>N</a:t>
            </a:r>
            <a:endParaRPr sz="600"/>
          </a:p>
        </p:txBody>
      </p:sp>
      <p:sp>
        <p:nvSpPr>
          <p:cNvPr id="22" name="Shape 20">
            <a:extLst xmlns:a="http://schemas.openxmlformats.org/drawingml/2006/main">
              <a:ext uri="{FF2B5EF4-FFF2-40B4-BE49-F238E27FC236}">
                <a16:creationId xmlns:a16="http://schemas.microsoft.com/office/drawing/2014/main" id="{86014148-E18A-4BEE-BA88-A8765CE33A78}"/>
              </a:ext>
            </a:extLst>
          </p:cNvPr>
          <p:cNvSpPr>
            <a:spLocks xmlns:a="http://schemas.openxmlformats.org/drawingml/2006/main" noGrp="1"/>
          </p:cNvSpPr>
          <p:nvPr/>
        </p:nvSpPr>
        <p:spPr>
          <a:xfrm xmlns:a="http://schemas.openxmlformats.org/drawingml/2006/main">
            <a:off x="6126480" y="1225296"/>
            <a:ext cx="1005840" cy="566928"/>
          </a:xfrm>
          <a:prstGeom xmlns:a="http://schemas.openxmlformats.org/drawingml/2006/main" prst="roundRect">
            <a:avLst>
              <a:gd name="adj" fmla="val 6452"/>
            </a:avLst>
          </a:prstGeom>
          <a:solidFill xmlns:a="http://schemas.openxmlformats.org/drawingml/2006/main">
            <a:srgbClr val="F5F3FF"/>
          </a:solidFill>
          <a:ln xmlns:a="http://schemas.openxmlformats.org/drawingml/2006/main" w="11430">
            <a:solidFill>
              <a:srgbClr val="C4B5FD"/>
            </a:solidFill>
            <a:prstDash val="solid"/>
          </a:ln>
        </p:spPr>
      </p:sp>
      <p:sp>
        <p:nvSpPr>
          <p:cNvPr id="23" name="Text 21">
            <a:extLst xmlns:a="http://schemas.openxmlformats.org/drawingml/2006/main">
              <a:ext uri="{FF2B5EF4-FFF2-40B4-BE49-F238E27FC236}">
                <a16:creationId xmlns:a16="http://schemas.microsoft.com/office/drawing/2014/main" id="{E4F54338-1C3A-4241-B48E-E68BA2E87E02}"/>
              </a:ext>
            </a:extLst>
          </p:cNvPr>
          <p:cNvSpPr>
            <a:spLocks xmlns:a="http://schemas.openxmlformats.org/drawingml/2006/main" noGrp="1"/>
          </p:cNvSpPr>
          <p:nvPr/>
        </p:nvSpPr>
        <p:spPr>
          <a:xfrm xmlns:a="http://schemas.openxmlformats.org/drawingml/2006/main">
            <a:off x="6153912" y="1225296"/>
            <a:ext cx="950976"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750" b="1">
                <a:solidFill>
                  <a:srgbClr val="5B21B6"/>
                </a:solidFill>
              </a:rPr>
              <a:t>Align by date</a:t>
            </a:r>
            <a:endParaRPr sz="750"/>
          </a:p>
          <a:p xmlns:a="http://schemas.openxmlformats.org/drawingml/2006/main">
            <a:pPr marL="0" indent="0" algn="ctr">
              <a:buNone/>
            </a:pPr>
            <a:r>
              <a:rPr sz="600">
                <a:solidFill>
                  <a:srgbClr val="5B21B6"/>
                </a:solidFill>
              </a:rPr>
              <a:t>one time zone</a:t>
            </a:r>
            <a:endParaRPr sz="750"/>
          </a:p>
        </p:txBody>
      </p:sp>
      <p:sp>
        <p:nvSpPr>
          <p:cNvPr id="24" name="Shape 22">
            <a:extLst xmlns:a="http://schemas.openxmlformats.org/drawingml/2006/main">
              <a:ext uri="{FF2B5EF4-FFF2-40B4-BE49-F238E27FC236}">
                <a16:creationId xmlns:a16="http://schemas.microsoft.com/office/drawing/2014/main" id="{6799AE6E-1027-4FC3-AE15-FBA4C73CF12B}"/>
              </a:ext>
            </a:extLst>
          </p:cNvPr>
          <p:cNvSpPr>
            <a:spLocks xmlns:a="http://schemas.openxmlformats.org/drawingml/2006/main" noGrp="1"/>
          </p:cNvSpPr>
          <p:nvPr/>
        </p:nvSpPr>
        <p:spPr>
          <a:xfrm xmlns:a="http://schemas.openxmlformats.org/drawingml/2006/main">
            <a:off x="7635240" y="1225296"/>
            <a:ext cx="1005840" cy="566928"/>
          </a:xfrm>
          <a:prstGeom xmlns:a="http://schemas.openxmlformats.org/drawingml/2006/main" prst="roundRect">
            <a:avLst>
              <a:gd name="adj" fmla="val 6452"/>
            </a:avLst>
          </a:prstGeom>
          <a:solidFill xmlns:a="http://schemas.openxmlformats.org/drawingml/2006/main">
            <a:srgbClr val="F5F3FF"/>
          </a:solidFill>
          <a:ln xmlns:a="http://schemas.openxmlformats.org/drawingml/2006/main" w="11430">
            <a:solidFill>
              <a:srgbClr val="C4B5FD"/>
            </a:solidFill>
            <a:prstDash val="solid"/>
          </a:ln>
        </p:spPr>
      </p:sp>
      <p:sp>
        <p:nvSpPr>
          <p:cNvPr id="25" name="Text 23">
            <a:extLst xmlns:a="http://schemas.openxmlformats.org/drawingml/2006/main">
              <a:ext uri="{FF2B5EF4-FFF2-40B4-BE49-F238E27FC236}">
                <a16:creationId xmlns:a16="http://schemas.microsoft.com/office/drawing/2014/main" id="{60C789C7-DDDF-40E2-B7AD-4AB54DC59E98}"/>
              </a:ext>
            </a:extLst>
          </p:cNvPr>
          <p:cNvSpPr>
            <a:spLocks xmlns:a="http://schemas.openxmlformats.org/drawingml/2006/main" noGrp="1"/>
          </p:cNvSpPr>
          <p:nvPr/>
        </p:nvSpPr>
        <p:spPr>
          <a:xfrm xmlns:a="http://schemas.openxmlformats.org/drawingml/2006/main">
            <a:off x="7662672" y="1225296"/>
            <a:ext cx="950976"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750" b="1">
                <a:solidFill>
                  <a:srgbClr val="5B21B6"/>
                </a:solidFill>
              </a:rPr>
              <a:t>Night to wake day</a:t>
            </a:r>
            <a:endParaRPr sz="750"/>
          </a:p>
          <a:p xmlns:a="http://schemas.openxmlformats.org/drawingml/2006/main">
            <a:pPr marL="0" indent="0" algn="ctr">
              <a:buNone/>
            </a:pPr>
            <a:r>
              <a:rPr sz="600">
                <a:solidFill>
                  <a:srgbClr val="5B21B6"/>
                </a:solidFill>
              </a:rPr>
              <a:t>night belongs to wake date</a:t>
            </a:r>
            <a:endParaRPr sz="750"/>
          </a:p>
        </p:txBody>
      </p:sp>
      <p:sp>
        <p:nvSpPr>
          <p:cNvPr id="26" name="Shape 24">
            <a:extLst xmlns:a="http://schemas.openxmlformats.org/drawingml/2006/main">
              <a:ext uri="{FF2B5EF4-FFF2-40B4-BE49-F238E27FC236}">
                <a16:creationId xmlns:a16="http://schemas.microsoft.com/office/drawing/2014/main" id="{8F979924-0750-4EFB-9872-7597230A021B}"/>
              </a:ext>
            </a:extLst>
          </p:cNvPr>
          <p:cNvSpPr>
            <a:spLocks xmlns:a="http://schemas.openxmlformats.org/drawingml/2006/main" noGrp="1"/>
          </p:cNvSpPr>
          <p:nvPr/>
        </p:nvSpPr>
        <p:spPr>
          <a:xfrm xmlns:a="http://schemas.openxmlformats.org/drawingml/2006/main">
            <a:off x="9144000" y="1225296"/>
            <a:ext cx="1005840" cy="566928"/>
          </a:xfrm>
          <a:prstGeom xmlns:a="http://schemas.openxmlformats.org/drawingml/2006/main" prst="roundRect">
            <a:avLst>
              <a:gd name="adj" fmla="val 6452"/>
            </a:avLst>
          </a:prstGeom>
          <a:solidFill xmlns:a="http://schemas.openxmlformats.org/drawingml/2006/main">
            <a:srgbClr val="F5F3FF"/>
          </a:solidFill>
          <a:ln xmlns:a="http://schemas.openxmlformats.org/drawingml/2006/main" w="11430">
            <a:solidFill>
              <a:srgbClr val="C4B5FD"/>
            </a:solidFill>
            <a:prstDash val="solid"/>
          </a:ln>
        </p:spPr>
      </p:sp>
      <p:sp>
        <p:nvSpPr>
          <p:cNvPr id="27" name="Text 25">
            <a:extLst xmlns:a="http://schemas.openxmlformats.org/drawingml/2006/main">
              <a:ext uri="{FF2B5EF4-FFF2-40B4-BE49-F238E27FC236}">
                <a16:creationId xmlns:a16="http://schemas.microsoft.com/office/drawing/2014/main" id="{25A253E1-32CD-4FBA-9165-855E1614BEBB}"/>
              </a:ext>
            </a:extLst>
          </p:cNvPr>
          <p:cNvSpPr>
            <a:spLocks xmlns:a="http://schemas.openxmlformats.org/drawingml/2006/main" noGrp="1"/>
          </p:cNvSpPr>
          <p:nvPr/>
        </p:nvSpPr>
        <p:spPr>
          <a:xfrm xmlns:a="http://schemas.openxmlformats.org/drawingml/2006/main">
            <a:off x="9171432" y="1225296"/>
            <a:ext cx="950976"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750" b="1">
                <a:solidFill>
                  <a:srgbClr val="5B21B6"/>
                </a:solidFill>
              </a:rPr>
              <a:t>Merge sources</a:t>
            </a:r>
            <a:endParaRPr sz="750"/>
          </a:p>
          <a:p xmlns:a="http://schemas.openxmlformats.org/drawingml/2006/main">
            <a:pPr marL="0" indent="0" algn="ctr">
              <a:buNone/>
            </a:pPr>
            <a:r>
              <a:rPr sz="600">
                <a:solidFill>
                  <a:srgbClr val="5B21B6"/>
                </a:solidFill>
              </a:rPr>
              <a:t>Fitbit + form by date</a:t>
            </a:r>
            <a:endParaRPr sz="750"/>
          </a:p>
        </p:txBody>
      </p:sp>
      <p:sp>
        <p:nvSpPr>
          <p:cNvPr id="28" name="Shape 26">
            <a:extLst xmlns:a="http://schemas.openxmlformats.org/drawingml/2006/main">
              <a:ext uri="{FF2B5EF4-FFF2-40B4-BE49-F238E27FC236}">
                <a16:creationId xmlns:a16="http://schemas.microsoft.com/office/drawing/2014/main" id="{8C1B39CB-585C-48BD-ABA1-37D2038957A4}"/>
              </a:ext>
            </a:extLst>
          </p:cNvPr>
          <p:cNvSpPr>
            <a:spLocks xmlns:a="http://schemas.openxmlformats.org/drawingml/2006/main" noGrp="1"/>
          </p:cNvSpPr>
          <p:nvPr/>
        </p:nvSpPr>
        <p:spPr>
          <a:xfrm xmlns:a="http://schemas.openxmlformats.org/drawingml/2006/main">
            <a:off x="2606040" y="1508760"/>
            <a:ext cx="502920" cy="0"/>
          </a:xfrm>
          <a:prstGeom xmlns:a="http://schemas.openxmlformats.org/drawingml/2006/main" prst="line">
            <a:avLst/>
          </a:prstGeom>
          <a:noFill xmlns:a="http://schemas.openxmlformats.org/drawingml/2006/main"/>
          <a:ln xmlns:a="http://schemas.openxmlformats.org/drawingml/2006/main" w="11430">
            <a:solidFill>
              <a:srgbClr val="111827"/>
            </a:solidFill>
            <a:prstDash val="solid"/>
            <a:tailEnd type="triangle"/>
          </a:ln>
        </p:spPr>
      </p:sp>
      <p:sp>
        <p:nvSpPr>
          <p:cNvPr id="29" name="Text 27">
            <a:extLst xmlns:a="http://schemas.openxmlformats.org/drawingml/2006/main">
              <a:ext uri="{FF2B5EF4-FFF2-40B4-BE49-F238E27FC236}">
                <a16:creationId xmlns:a16="http://schemas.microsoft.com/office/drawing/2014/main" id="{BDC45937-42EB-4290-AFEA-5FA855A8886E}"/>
              </a:ext>
            </a:extLst>
          </p:cNvPr>
          <p:cNvSpPr>
            <a:spLocks xmlns:a="http://schemas.openxmlformats.org/drawingml/2006/main" noGrp="1"/>
          </p:cNvSpPr>
          <p:nvPr/>
        </p:nvSpPr>
        <p:spPr>
          <a:xfrm xmlns:a="http://schemas.openxmlformats.org/drawingml/2006/main">
            <a:off x="2619756" y="1280160"/>
            <a:ext cx="47548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600" i="1">
                <a:solidFill>
                  <a:srgbClr val="1F2937"/>
                </a:solidFill>
              </a:rPr>
              <a:t>SQL</a:t>
            </a:r>
            <a:endParaRPr sz="600"/>
          </a:p>
          <a:p xmlns:a="http://schemas.openxmlformats.org/drawingml/2006/main">
            <a:pPr marL="0" indent="0" algn="ctr">
              <a:buNone/>
            </a:pPr>
            <a:r>
              <a:rPr sz="600" i="1">
                <a:solidFill>
                  <a:srgbClr val="1F2937"/>
                </a:solidFill>
              </a:rPr>
              <a:t>rows</a:t>
            </a:r>
            <a:endParaRPr sz="600"/>
          </a:p>
        </p:txBody>
      </p:sp>
      <p:sp>
        <p:nvSpPr>
          <p:cNvPr id="30" name="Shape 28">
            <a:extLst xmlns:a="http://schemas.openxmlformats.org/drawingml/2006/main">
              <a:ext uri="{FF2B5EF4-FFF2-40B4-BE49-F238E27FC236}">
                <a16:creationId xmlns:a16="http://schemas.microsoft.com/office/drawing/2014/main" id="{8D344C42-885D-465D-A0F7-4375043E6BDB}"/>
              </a:ext>
            </a:extLst>
          </p:cNvPr>
          <p:cNvSpPr>
            <a:spLocks xmlns:a="http://schemas.openxmlformats.org/drawingml/2006/main" noGrp="1"/>
          </p:cNvSpPr>
          <p:nvPr/>
        </p:nvSpPr>
        <p:spPr>
          <a:xfrm xmlns:a="http://schemas.openxmlformats.org/drawingml/2006/main">
            <a:off x="4114800" y="1508760"/>
            <a:ext cx="502920" cy="0"/>
          </a:xfrm>
          <a:prstGeom xmlns:a="http://schemas.openxmlformats.org/drawingml/2006/main" prst="line">
            <a:avLst/>
          </a:prstGeom>
          <a:noFill xmlns:a="http://schemas.openxmlformats.org/drawingml/2006/main"/>
          <a:ln xmlns:a="http://schemas.openxmlformats.org/drawingml/2006/main" w="11430">
            <a:solidFill>
              <a:srgbClr val="111827"/>
            </a:solidFill>
            <a:prstDash val="solid"/>
            <a:tailEnd type="triangle"/>
          </a:ln>
        </p:spPr>
      </p:sp>
      <p:sp>
        <p:nvSpPr>
          <p:cNvPr id="31" name="Text 29">
            <a:extLst xmlns:a="http://schemas.openxmlformats.org/drawingml/2006/main">
              <a:ext uri="{FF2B5EF4-FFF2-40B4-BE49-F238E27FC236}">
                <a16:creationId xmlns:a16="http://schemas.microsoft.com/office/drawing/2014/main" id="{9647775F-33B8-44EF-97ED-0F503E6D189F}"/>
              </a:ext>
            </a:extLst>
          </p:cNvPr>
          <p:cNvSpPr>
            <a:spLocks xmlns:a="http://schemas.openxmlformats.org/drawingml/2006/main" noGrp="1"/>
          </p:cNvSpPr>
          <p:nvPr/>
        </p:nvSpPr>
        <p:spPr>
          <a:xfrm xmlns:a="http://schemas.openxmlformats.org/drawingml/2006/main">
            <a:off x="4128516" y="1371600"/>
            <a:ext cx="475488" cy="1097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600" i="1">
                <a:solidFill>
                  <a:srgbClr val="1F2937"/>
                </a:solidFill>
              </a:rPr>
              <a:t>DataFrame</a:t>
            </a:r>
            <a:endParaRPr sz="600"/>
          </a:p>
        </p:txBody>
      </p:sp>
      <p:sp>
        <p:nvSpPr>
          <p:cNvPr id="32" name="Shape 30">
            <a:extLst xmlns:a="http://schemas.openxmlformats.org/drawingml/2006/main">
              <a:ext uri="{FF2B5EF4-FFF2-40B4-BE49-F238E27FC236}">
                <a16:creationId xmlns:a16="http://schemas.microsoft.com/office/drawing/2014/main" id="{5A4C02C5-6E62-4D34-9756-67E982DAFBE3}"/>
              </a:ext>
            </a:extLst>
          </p:cNvPr>
          <p:cNvSpPr>
            <a:spLocks xmlns:a="http://schemas.openxmlformats.org/drawingml/2006/main" noGrp="1"/>
          </p:cNvSpPr>
          <p:nvPr/>
        </p:nvSpPr>
        <p:spPr>
          <a:xfrm xmlns:a="http://schemas.openxmlformats.org/drawingml/2006/main">
            <a:off x="5623560" y="1508760"/>
            <a:ext cx="502920" cy="0"/>
          </a:xfrm>
          <a:prstGeom xmlns:a="http://schemas.openxmlformats.org/drawingml/2006/main" prst="line">
            <a:avLst/>
          </a:prstGeom>
          <a:noFill xmlns:a="http://schemas.openxmlformats.org/drawingml/2006/main"/>
          <a:ln xmlns:a="http://schemas.openxmlformats.org/drawingml/2006/main" w="11430">
            <a:solidFill>
              <a:srgbClr val="111827"/>
            </a:solidFill>
            <a:prstDash val="solid"/>
            <a:tailEnd type="triangle"/>
          </a:ln>
        </p:spPr>
      </p:sp>
      <p:sp>
        <p:nvSpPr>
          <p:cNvPr id="33" name="Text 31">
            <a:extLst xmlns:a="http://schemas.openxmlformats.org/drawingml/2006/main">
              <a:ext uri="{FF2B5EF4-FFF2-40B4-BE49-F238E27FC236}">
                <a16:creationId xmlns:a16="http://schemas.microsoft.com/office/drawing/2014/main" id="{4FE934FF-F37C-4200-BC15-4D05FB133862}"/>
              </a:ext>
            </a:extLst>
          </p:cNvPr>
          <p:cNvSpPr>
            <a:spLocks xmlns:a="http://schemas.openxmlformats.org/drawingml/2006/main" noGrp="1"/>
          </p:cNvSpPr>
          <p:nvPr/>
        </p:nvSpPr>
        <p:spPr>
          <a:xfrm xmlns:a="http://schemas.openxmlformats.org/drawingml/2006/main">
            <a:off x="5641848" y="1517904"/>
            <a:ext cx="137160" cy="914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600" b="1">
                <a:solidFill>
                  <a:srgbClr val="1E88E5"/>
                </a:solidFill>
              </a:rPr>
              <a:t>Y</a:t>
            </a:r>
            <a:endParaRPr sz="600"/>
          </a:p>
        </p:txBody>
      </p:sp>
      <p:sp>
        <p:nvSpPr>
          <p:cNvPr id="34" name="Shape 32">
            <a:extLst xmlns:a="http://schemas.openxmlformats.org/drawingml/2006/main">
              <a:ext uri="{FF2B5EF4-FFF2-40B4-BE49-F238E27FC236}">
                <a16:creationId xmlns:a16="http://schemas.microsoft.com/office/drawing/2014/main" id="{589983DA-B20D-436C-93FC-46DF8F3B4ECA}"/>
              </a:ext>
            </a:extLst>
          </p:cNvPr>
          <p:cNvSpPr>
            <a:spLocks xmlns:a="http://schemas.openxmlformats.org/drawingml/2006/main" noGrp="1"/>
          </p:cNvSpPr>
          <p:nvPr/>
        </p:nvSpPr>
        <p:spPr>
          <a:xfrm xmlns:a="http://schemas.openxmlformats.org/drawingml/2006/main">
            <a:off x="7132320" y="1508760"/>
            <a:ext cx="502920" cy="0"/>
          </a:xfrm>
          <a:prstGeom xmlns:a="http://schemas.openxmlformats.org/drawingml/2006/main" prst="line">
            <a:avLst/>
          </a:prstGeom>
          <a:noFill xmlns:a="http://schemas.openxmlformats.org/drawingml/2006/main"/>
          <a:ln xmlns:a="http://schemas.openxmlformats.org/drawingml/2006/main" w="11430">
            <a:solidFill>
              <a:srgbClr val="111827"/>
            </a:solidFill>
            <a:prstDash val="solid"/>
            <a:tailEnd type="triangle"/>
          </a:ln>
        </p:spPr>
      </p:sp>
      <p:sp>
        <p:nvSpPr>
          <p:cNvPr id="35" name="Shape 33">
            <a:extLst xmlns:a="http://schemas.openxmlformats.org/drawingml/2006/main">
              <a:ext uri="{FF2B5EF4-FFF2-40B4-BE49-F238E27FC236}">
                <a16:creationId xmlns:a16="http://schemas.microsoft.com/office/drawing/2014/main" id="{4F0E487F-864D-4557-9670-D57CFC976067}"/>
              </a:ext>
            </a:extLst>
          </p:cNvPr>
          <p:cNvSpPr>
            <a:spLocks xmlns:a="http://schemas.openxmlformats.org/drawingml/2006/main" noGrp="1"/>
          </p:cNvSpPr>
          <p:nvPr/>
        </p:nvSpPr>
        <p:spPr>
          <a:xfrm xmlns:a="http://schemas.openxmlformats.org/drawingml/2006/main">
            <a:off x="8641080" y="1508760"/>
            <a:ext cx="502920" cy="0"/>
          </a:xfrm>
          <a:prstGeom xmlns:a="http://schemas.openxmlformats.org/drawingml/2006/main" prst="line">
            <a:avLst/>
          </a:prstGeom>
          <a:noFill xmlns:a="http://schemas.openxmlformats.org/drawingml/2006/main"/>
          <a:ln xmlns:a="http://schemas.openxmlformats.org/drawingml/2006/main" w="11430">
            <a:solidFill>
              <a:srgbClr val="111827"/>
            </a:solidFill>
            <a:prstDash val="solid"/>
            <a:tailEnd type="triangle"/>
          </a:ln>
        </p:spPr>
      </p:sp>
      <p:sp>
        <p:nvSpPr>
          <p:cNvPr id="36" name="Shape 34">
            <a:extLst xmlns:a="http://schemas.openxmlformats.org/drawingml/2006/main">
              <a:ext uri="{FF2B5EF4-FFF2-40B4-BE49-F238E27FC236}">
                <a16:creationId xmlns:a16="http://schemas.microsoft.com/office/drawing/2014/main" id="{D5E2B12C-6DD4-48A5-8A5F-D3AF3664A9B5}"/>
              </a:ext>
            </a:extLst>
          </p:cNvPr>
          <p:cNvSpPr>
            <a:spLocks xmlns:a="http://schemas.openxmlformats.org/drawingml/2006/main" noGrp="1"/>
          </p:cNvSpPr>
          <p:nvPr/>
        </p:nvSpPr>
        <p:spPr>
          <a:xfrm xmlns:a="http://schemas.openxmlformats.org/drawingml/2006/main">
            <a:off x="9144000" y="2734056"/>
            <a:ext cx="1005840" cy="566928"/>
          </a:xfrm>
          <a:prstGeom xmlns:a="http://schemas.openxmlformats.org/drawingml/2006/main" prst="roundRect">
            <a:avLst>
              <a:gd name="adj" fmla="val 6452"/>
            </a:avLst>
          </a:prstGeom>
          <a:solidFill xmlns:a="http://schemas.openxmlformats.org/drawingml/2006/main">
            <a:srgbClr val="F5F3FF"/>
          </a:solidFill>
          <a:ln xmlns:a="http://schemas.openxmlformats.org/drawingml/2006/main" w="11430">
            <a:solidFill>
              <a:srgbClr val="C4B5FD"/>
            </a:solidFill>
            <a:prstDash val="solid"/>
          </a:ln>
        </p:spPr>
      </p:sp>
      <p:sp>
        <p:nvSpPr>
          <p:cNvPr id="37" name="Text 35">
            <a:extLst xmlns:a="http://schemas.openxmlformats.org/drawingml/2006/main">
              <a:ext uri="{FF2B5EF4-FFF2-40B4-BE49-F238E27FC236}">
                <a16:creationId xmlns:a16="http://schemas.microsoft.com/office/drawing/2014/main" id="{C50989A7-3E2B-49E2-AB2D-0766FDE6DED5}"/>
              </a:ext>
            </a:extLst>
          </p:cNvPr>
          <p:cNvSpPr>
            <a:spLocks xmlns:a="http://schemas.openxmlformats.org/drawingml/2006/main" noGrp="1"/>
          </p:cNvSpPr>
          <p:nvPr/>
        </p:nvSpPr>
        <p:spPr>
          <a:xfrm xmlns:a="http://schemas.openxmlformats.org/drawingml/2006/main">
            <a:off x="9171432" y="2734056"/>
            <a:ext cx="950976"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750" b="1">
                <a:solidFill>
                  <a:srgbClr val="5B21B6"/>
                </a:solidFill>
              </a:rPr>
              <a:t>Sleep values</a:t>
            </a:r>
            <a:endParaRPr sz="750"/>
          </a:p>
          <a:p xmlns:a="http://schemas.openxmlformats.org/drawingml/2006/main">
            <a:pPr marL="0" indent="0" algn="ctr">
              <a:buNone/>
            </a:pPr>
            <a:r>
              <a:rPr sz="600">
                <a:solidFill>
                  <a:srgbClr val="5B21B6"/>
                </a:solidFill>
              </a:rPr>
              <a:t>duration, bed, wake, awakenings</a:t>
            </a:r>
            <a:endParaRPr sz="750"/>
          </a:p>
        </p:txBody>
      </p:sp>
      <p:sp>
        <p:nvSpPr>
          <p:cNvPr id="38" name="Shape 36">
            <a:extLst xmlns:a="http://schemas.openxmlformats.org/drawingml/2006/main">
              <a:ext uri="{FF2B5EF4-FFF2-40B4-BE49-F238E27FC236}">
                <a16:creationId xmlns:a16="http://schemas.microsoft.com/office/drawing/2014/main" id="{BF71FC87-A5B6-4ADF-9DF3-F0EAF07E9357}"/>
              </a:ext>
            </a:extLst>
          </p:cNvPr>
          <p:cNvSpPr>
            <a:spLocks xmlns:a="http://schemas.openxmlformats.org/drawingml/2006/main" noGrp="1"/>
          </p:cNvSpPr>
          <p:nvPr/>
        </p:nvSpPr>
        <p:spPr>
          <a:xfrm xmlns:a="http://schemas.openxmlformats.org/drawingml/2006/main">
            <a:off x="7635240" y="2734056"/>
            <a:ext cx="1005840" cy="566928"/>
          </a:xfrm>
          <a:prstGeom xmlns:a="http://schemas.openxmlformats.org/drawingml/2006/main" prst="roundRect">
            <a:avLst>
              <a:gd name="adj" fmla="val 6452"/>
            </a:avLst>
          </a:prstGeom>
          <a:solidFill xmlns:a="http://schemas.openxmlformats.org/drawingml/2006/main">
            <a:srgbClr val="F5F3FF"/>
          </a:solidFill>
          <a:ln xmlns:a="http://schemas.openxmlformats.org/drawingml/2006/main" w="11430">
            <a:solidFill>
              <a:srgbClr val="C4B5FD"/>
            </a:solidFill>
            <a:prstDash val="solid"/>
          </a:ln>
        </p:spPr>
      </p:sp>
      <p:sp>
        <p:nvSpPr>
          <p:cNvPr id="39" name="Text 37">
            <a:extLst xmlns:a="http://schemas.openxmlformats.org/drawingml/2006/main">
              <a:ext uri="{FF2B5EF4-FFF2-40B4-BE49-F238E27FC236}">
                <a16:creationId xmlns:a16="http://schemas.microsoft.com/office/drawing/2014/main" id="{9068C311-E34D-4294-AAAA-23FC862ABD35}"/>
              </a:ext>
            </a:extLst>
          </p:cNvPr>
          <p:cNvSpPr>
            <a:spLocks xmlns:a="http://schemas.openxmlformats.org/drawingml/2006/main" noGrp="1"/>
          </p:cNvSpPr>
          <p:nvPr/>
        </p:nvSpPr>
        <p:spPr>
          <a:xfrm xmlns:a="http://schemas.openxmlformats.org/drawingml/2006/main">
            <a:off x="7662672" y="2734056"/>
            <a:ext cx="950976"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750" b="1">
                <a:solidFill>
                  <a:srgbClr val="5B21B6"/>
                </a:solidFill>
              </a:rPr>
              <a:t>Daytime values</a:t>
            </a:r>
            <a:endParaRPr sz="750"/>
          </a:p>
          <a:p xmlns:a="http://schemas.openxmlformats.org/drawingml/2006/main">
            <a:pPr marL="0" indent="0" algn="ctr">
              <a:buNone/>
            </a:pPr>
            <a:r>
              <a:rPr sz="600">
                <a:solidFill>
                  <a:srgbClr val="5B21B6"/>
                </a:solidFill>
              </a:rPr>
              <a:t>steps, heart rate</a:t>
            </a:r>
            <a:endParaRPr sz="750"/>
          </a:p>
        </p:txBody>
      </p:sp>
      <p:sp>
        <p:nvSpPr>
          <p:cNvPr id="40" name="Shape 38">
            <a:extLst xmlns:a="http://schemas.openxmlformats.org/drawingml/2006/main">
              <a:ext uri="{FF2B5EF4-FFF2-40B4-BE49-F238E27FC236}">
                <a16:creationId xmlns:a16="http://schemas.microsoft.com/office/drawing/2014/main" id="{1E7519FF-6396-40F0-BC66-27E9A7DD6AC3}"/>
              </a:ext>
            </a:extLst>
          </p:cNvPr>
          <p:cNvSpPr>
            <a:spLocks xmlns:a="http://schemas.openxmlformats.org/drawingml/2006/main" noGrp="1"/>
          </p:cNvSpPr>
          <p:nvPr/>
        </p:nvSpPr>
        <p:spPr>
          <a:xfrm xmlns:a="http://schemas.openxmlformats.org/drawingml/2006/main">
            <a:off x="6126480" y="2651760"/>
            <a:ext cx="1005840" cy="731520"/>
          </a:xfrm>
          <a:prstGeom xmlns:a="http://schemas.openxmlformats.org/drawingml/2006/main" prst="diamond">
            <a:avLst/>
          </a:prstGeom>
          <a:solidFill xmlns:a="http://schemas.openxmlformats.org/drawingml/2006/main">
            <a:srgbClr val="FFFFFF"/>
          </a:solidFill>
          <a:ln xmlns:a="http://schemas.openxmlformats.org/drawingml/2006/main" w="11430">
            <a:solidFill>
              <a:srgbClr val="111827"/>
            </a:solidFill>
            <a:prstDash val="solid"/>
          </a:ln>
        </p:spPr>
      </p:sp>
      <p:sp>
        <p:nvSpPr>
          <p:cNvPr id="41" name="Text 39">
            <a:extLst xmlns:a="http://schemas.openxmlformats.org/drawingml/2006/main">
              <a:ext uri="{FF2B5EF4-FFF2-40B4-BE49-F238E27FC236}">
                <a16:creationId xmlns:a16="http://schemas.microsoft.com/office/drawing/2014/main" id="{B8A69D6B-85FD-4713-9F39-C2AB8CB5CEB5}"/>
              </a:ext>
            </a:extLst>
          </p:cNvPr>
          <p:cNvSpPr>
            <a:spLocks xmlns:a="http://schemas.openxmlformats.org/drawingml/2006/main" noGrp="1"/>
          </p:cNvSpPr>
          <p:nvPr/>
        </p:nvSpPr>
        <p:spPr>
          <a:xfrm xmlns:a="http://schemas.openxmlformats.org/drawingml/2006/main">
            <a:off x="6327648" y="2651760"/>
            <a:ext cx="603504"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600">
                <a:solidFill>
                  <a:srgbClr val="111827"/>
                </a:solidFill>
              </a:rPr>
              <a:t>Check-ins</a:t>
            </a:r>
            <a:endParaRPr sz="600"/>
          </a:p>
          <a:p xmlns:a="http://schemas.openxmlformats.org/drawingml/2006/main">
            <a:pPr marL="0" indent="0" algn="ctr">
              <a:buNone/>
            </a:pPr>
            <a:r>
              <a:rPr sz="600">
                <a:solidFill>
                  <a:srgbClr val="111827"/>
                </a:solidFill>
              </a:rPr>
              <a:t>complete?</a:t>
            </a:r>
            <a:endParaRPr sz="600"/>
          </a:p>
        </p:txBody>
      </p:sp>
      <p:sp>
        <p:nvSpPr>
          <p:cNvPr id="42" name="Shape 40">
            <a:extLst xmlns:a="http://schemas.openxmlformats.org/drawingml/2006/main">
              <a:ext uri="{FF2B5EF4-FFF2-40B4-BE49-F238E27FC236}">
                <a16:creationId xmlns:a16="http://schemas.microsoft.com/office/drawing/2014/main" id="{6FA96EE4-1F6E-4296-BE9A-97AEF675B8CD}"/>
              </a:ext>
            </a:extLst>
          </p:cNvPr>
          <p:cNvSpPr>
            <a:spLocks xmlns:a="http://schemas.openxmlformats.org/drawingml/2006/main" noGrp="1"/>
          </p:cNvSpPr>
          <p:nvPr/>
        </p:nvSpPr>
        <p:spPr>
          <a:xfrm xmlns:a="http://schemas.openxmlformats.org/drawingml/2006/main">
            <a:off x="6126480" y="3474720"/>
            <a:ext cx="1005840" cy="347472"/>
          </a:xfrm>
          <a:prstGeom xmlns:a="http://schemas.openxmlformats.org/drawingml/2006/main" prst="roundRect">
            <a:avLst>
              <a:gd name="adj" fmla="val 7895"/>
            </a:avLst>
          </a:prstGeom>
          <a:solidFill xmlns:a="http://schemas.openxmlformats.org/drawingml/2006/main">
            <a:srgbClr val="FEF2F2"/>
          </a:solidFill>
          <a:ln xmlns:a="http://schemas.openxmlformats.org/drawingml/2006/main" w="11430">
            <a:solidFill>
              <a:srgbClr val="B91C1C"/>
            </a:solidFill>
            <a:prstDash val="solid"/>
          </a:ln>
        </p:spPr>
      </p:sp>
      <p:sp>
        <p:nvSpPr>
          <p:cNvPr id="43" name="Text 41">
            <a:extLst xmlns:a="http://schemas.openxmlformats.org/drawingml/2006/main">
              <a:ext uri="{FF2B5EF4-FFF2-40B4-BE49-F238E27FC236}">
                <a16:creationId xmlns:a16="http://schemas.microsoft.com/office/drawing/2014/main" id="{4630C47F-E21F-48D5-92D0-E32F639A3F7A}"/>
              </a:ext>
            </a:extLst>
          </p:cNvPr>
          <p:cNvSpPr>
            <a:spLocks xmlns:a="http://schemas.openxmlformats.org/drawingml/2006/main" noGrp="1"/>
          </p:cNvSpPr>
          <p:nvPr/>
        </p:nvSpPr>
        <p:spPr>
          <a:xfrm xmlns:a="http://schemas.openxmlformats.org/drawingml/2006/main">
            <a:off x="6144768" y="3474720"/>
            <a:ext cx="969264"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550" b="1">
                <a:solidFill>
                  <a:srgbClr val="111827"/>
                </a:solidFill>
              </a:rPr>
              <a:t>Error 1: check-in missing</a:t>
            </a:r>
            <a:endParaRPr sz="550"/>
          </a:p>
          <a:p xmlns:a="http://schemas.openxmlformats.org/drawingml/2006/main">
            <a:pPr marL="0" indent="0" algn="ctr">
              <a:buNone/>
            </a:pPr>
            <a:r>
              <a:rPr sz="550">
                <a:solidFill>
                  <a:srgbClr val="111827"/>
                </a:solidFill>
              </a:rPr>
              <a:t>slot marked missing</a:t>
            </a:r>
            <a:endParaRPr sz="550"/>
          </a:p>
        </p:txBody>
      </p:sp>
      <p:sp>
        <p:nvSpPr>
          <p:cNvPr id="44" name="Shape 42">
            <a:extLst xmlns:a="http://schemas.openxmlformats.org/drawingml/2006/main">
              <a:ext uri="{FF2B5EF4-FFF2-40B4-BE49-F238E27FC236}">
                <a16:creationId xmlns:a16="http://schemas.microsoft.com/office/drawing/2014/main" id="{D1FA17A8-EE8D-47BA-9E52-82FBC0D1F4E3}"/>
              </a:ext>
            </a:extLst>
          </p:cNvPr>
          <p:cNvSpPr>
            <a:spLocks xmlns:a="http://schemas.openxmlformats.org/drawingml/2006/main" noGrp="1"/>
          </p:cNvSpPr>
          <p:nvPr/>
        </p:nvSpPr>
        <p:spPr>
          <a:xfrm xmlns:a="http://schemas.openxmlformats.org/drawingml/2006/main">
            <a:off x="6629400" y="3383280"/>
            <a:ext cx="0" cy="91440"/>
          </a:xfrm>
          <a:prstGeom xmlns:a="http://schemas.openxmlformats.org/drawingml/2006/main" prst="line">
            <a:avLst/>
          </a:prstGeom>
          <a:noFill xmlns:a="http://schemas.openxmlformats.org/drawingml/2006/main"/>
          <a:ln xmlns:a="http://schemas.openxmlformats.org/drawingml/2006/main" w="11430">
            <a:solidFill>
              <a:srgbClr val="B91C1C"/>
            </a:solidFill>
            <a:prstDash val="solid"/>
            <a:tailEnd type="triangle"/>
          </a:ln>
        </p:spPr>
      </p:sp>
      <p:sp>
        <p:nvSpPr>
          <p:cNvPr id="45" name="Text 43">
            <a:extLst xmlns:a="http://schemas.openxmlformats.org/drawingml/2006/main">
              <a:ext uri="{FF2B5EF4-FFF2-40B4-BE49-F238E27FC236}">
                <a16:creationId xmlns:a16="http://schemas.microsoft.com/office/drawing/2014/main" id="{D6E311D1-9F06-44A4-B984-489157347265}"/>
              </a:ext>
            </a:extLst>
          </p:cNvPr>
          <p:cNvSpPr>
            <a:spLocks xmlns:a="http://schemas.openxmlformats.org/drawingml/2006/main" noGrp="1"/>
          </p:cNvSpPr>
          <p:nvPr/>
        </p:nvSpPr>
        <p:spPr>
          <a:xfrm xmlns:a="http://schemas.openxmlformats.org/drawingml/2006/main">
            <a:off x="6675120" y="3383280"/>
            <a:ext cx="137160" cy="914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600" b="1">
                <a:solidFill>
                  <a:srgbClr val="B91C1C"/>
                </a:solidFill>
              </a:rPr>
              <a:t>N</a:t>
            </a:r>
            <a:endParaRPr sz="600"/>
          </a:p>
        </p:txBody>
      </p:sp>
      <p:sp>
        <p:nvSpPr>
          <p:cNvPr id="46" name="Shape 44">
            <a:extLst xmlns:a="http://schemas.openxmlformats.org/drawingml/2006/main">
              <a:ext uri="{FF2B5EF4-FFF2-40B4-BE49-F238E27FC236}">
                <a16:creationId xmlns:a16="http://schemas.microsoft.com/office/drawing/2014/main" id="{6F5B0A97-F698-4283-B7D1-8D0D73E42734}"/>
              </a:ext>
            </a:extLst>
          </p:cNvPr>
          <p:cNvSpPr>
            <a:spLocks xmlns:a="http://schemas.openxmlformats.org/drawingml/2006/main" noGrp="1"/>
          </p:cNvSpPr>
          <p:nvPr/>
        </p:nvSpPr>
        <p:spPr>
          <a:xfrm xmlns:a="http://schemas.openxmlformats.org/drawingml/2006/main">
            <a:off x="4617720" y="2734056"/>
            <a:ext cx="1005840" cy="566928"/>
          </a:xfrm>
          <a:prstGeom xmlns:a="http://schemas.openxmlformats.org/drawingml/2006/main" prst="roundRect">
            <a:avLst>
              <a:gd name="adj" fmla="val 6452"/>
            </a:avLst>
          </a:prstGeom>
          <a:solidFill xmlns:a="http://schemas.openxmlformats.org/drawingml/2006/main">
            <a:srgbClr val="F5F3FF"/>
          </a:solidFill>
          <a:ln xmlns:a="http://schemas.openxmlformats.org/drawingml/2006/main" w="11430">
            <a:solidFill>
              <a:srgbClr val="C4B5FD"/>
            </a:solidFill>
            <a:prstDash val="solid"/>
          </a:ln>
        </p:spPr>
      </p:sp>
      <p:sp>
        <p:nvSpPr>
          <p:cNvPr id="47" name="Text 45">
            <a:extLst xmlns:a="http://schemas.openxmlformats.org/drawingml/2006/main">
              <a:ext uri="{FF2B5EF4-FFF2-40B4-BE49-F238E27FC236}">
                <a16:creationId xmlns:a16="http://schemas.microsoft.com/office/drawing/2014/main" id="{67536F09-55CA-44F3-9924-2458CD43F280}"/>
              </a:ext>
            </a:extLst>
          </p:cNvPr>
          <p:cNvSpPr>
            <a:spLocks xmlns:a="http://schemas.openxmlformats.org/drawingml/2006/main" noGrp="1"/>
          </p:cNvSpPr>
          <p:nvPr/>
        </p:nvSpPr>
        <p:spPr>
          <a:xfrm xmlns:a="http://schemas.openxmlformats.org/drawingml/2006/main">
            <a:off x="4645152" y="2734056"/>
            <a:ext cx="950976"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750" b="1">
                <a:solidFill>
                  <a:srgbClr val="5B21B6"/>
                </a:solidFill>
              </a:rPr>
              <a:t>Check-in values</a:t>
            </a:r>
            <a:endParaRPr sz="750"/>
          </a:p>
          <a:p xmlns:a="http://schemas.openxmlformats.org/drawingml/2006/main">
            <a:pPr marL="0" indent="0" algn="ctr">
              <a:buNone/>
            </a:pPr>
            <a:r>
              <a:rPr sz="600">
                <a:solidFill>
                  <a:srgbClr val="5B21B6"/>
                </a:solidFill>
              </a:rPr>
              <a:t>1-5 per slot</a:t>
            </a:r>
            <a:endParaRPr sz="750"/>
          </a:p>
        </p:txBody>
      </p:sp>
      <p:sp>
        <p:nvSpPr>
          <p:cNvPr id="48" name="Shape 46">
            <a:extLst xmlns:a="http://schemas.openxmlformats.org/drawingml/2006/main">
              <a:ext uri="{FF2B5EF4-FFF2-40B4-BE49-F238E27FC236}">
                <a16:creationId xmlns:a16="http://schemas.microsoft.com/office/drawing/2014/main" id="{0EF23BFE-E4FA-429D-AC2C-3B090B347024}"/>
              </a:ext>
            </a:extLst>
          </p:cNvPr>
          <p:cNvSpPr>
            <a:spLocks xmlns:a="http://schemas.openxmlformats.org/drawingml/2006/main" noGrp="1"/>
          </p:cNvSpPr>
          <p:nvPr/>
        </p:nvSpPr>
        <p:spPr>
          <a:xfrm xmlns:a="http://schemas.openxmlformats.org/drawingml/2006/main">
            <a:off x="3108960" y="2734056"/>
            <a:ext cx="1005840" cy="566928"/>
          </a:xfrm>
          <a:prstGeom xmlns:a="http://schemas.openxmlformats.org/drawingml/2006/main" prst="roundRect">
            <a:avLst>
              <a:gd name="adj" fmla="val 6452"/>
            </a:avLst>
          </a:prstGeom>
          <a:solidFill xmlns:a="http://schemas.openxmlformats.org/drawingml/2006/main">
            <a:srgbClr val="F5F3FF"/>
          </a:solidFill>
          <a:ln xmlns:a="http://schemas.openxmlformats.org/drawingml/2006/main" w="11430">
            <a:solidFill>
              <a:srgbClr val="C4B5FD"/>
            </a:solidFill>
            <a:prstDash val="solid"/>
          </a:ln>
        </p:spPr>
      </p:sp>
      <p:sp>
        <p:nvSpPr>
          <p:cNvPr id="49" name="Text 47">
            <a:extLst xmlns:a="http://schemas.openxmlformats.org/drawingml/2006/main">
              <a:ext uri="{FF2B5EF4-FFF2-40B4-BE49-F238E27FC236}">
                <a16:creationId xmlns:a16="http://schemas.microsoft.com/office/drawing/2014/main" id="{26DDB493-8147-4064-ABFF-AD695FBD6D75}"/>
              </a:ext>
            </a:extLst>
          </p:cNvPr>
          <p:cNvSpPr>
            <a:spLocks xmlns:a="http://schemas.openxmlformats.org/drawingml/2006/main" noGrp="1"/>
          </p:cNvSpPr>
          <p:nvPr/>
        </p:nvSpPr>
        <p:spPr>
          <a:xfrm xmlns:a="http://schemas.openxmlformats.org/drawingml/2006/main">
            <a:off x="3136392" y="2734056"/>
            <a:ext cx="950976"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750" b="1">
                <a:solidFill>
                  <a:srgbClr val="5B21B6"/>
                </a:solidFill>
              </a:rPr>
              <a:t>Weekly figures</a:t>
            </a:r>
            <a:endParaRPr sz="750"/>
          </a:p>
          <a:p xmlns:a="http://schemas.openxmlformats.org/drawingml/2006/main">
            <a:pPr marL="0" indent="0" algn="ctr">
              <a:buNone/>
            </a:pPr>
            <a:r>
              <a:rPr sz="600">
                <a:solidFill>
                  <a:srgbClr val="5B21B6"/>
                </a:solidFill>
              </a:rPr>
              <a:t>averages, totals, days</a:t>
            </a:r>
            <a:endParaRPr sz="750"/>
          </a:p>
        </p:txBody>
      </p:sp>
      <p:sp>
        <p:nvSpPr>
          <p:cNvPr id="50" name="Shape 48">
            <a:extLst xmlns:a="http://schemas.openxmlformats.org/drawingml/2006/main">
              <a:ext uri="{FF2B5EF4-FFF2-40B4-BE49-F238E27FC236}">
                <a16:creationId xmlns:a16="http://schemas.microsoft.com/office/drawing/2014/main" id="{0E4FC276-5E10-4C60-A284-0CC1EA4A99E7}"/>
              </a:ext>
            </a:extLst>
          </p:cNvPr>
          <p:cNvSpPr>
            <a:spLocks xmlns:a="http://schemas.openxmlformats.org/drawingml/2006/main" noGrp="1"/>
          </p:cNvSpPr>
          <p:nvPr/>
        </p:nvSpPr>
        <p:spPr>
          <a:xfrm xmlns:a="http://schemas.openxmlformats.org/drawingml/2006/main">
            <a:off x="1600200" y="2734056"/>
            <a:ext cx="1005840" cy="566928"/>
          </a:xfrm>
          <a:prstGeom xmlns:a="http://schemas.openxmlformats.org/drawingml/2006/main" prst="roundRect">
            <a:avLst>
              <a:gd name="adj" fmla="val 6452"/>
            </a:avLst>
          </a:prstGeom>
          <a:solidFill xmlns:a="http://schemas.openxmlformats.org/drawingml/2006/main">
            <a:srgbClr val="F5F3FF"/>
          </a:solidFill>
          <a:ln xmlns:a="http://schemas.openxmlformats.org/drawingml/2006/main" w="11430">
            <a:solidFill>
              <a:srgbClr val="C4B5FD"/>
            </a:solidFill>
            <a:prstDash val="solid"/>
          </a:ln>
        </p:spPr>
      </p:sp>
      <p:sp>
        <p:nvSpPr>
          <p:cNvPr id="51" name="Text 49">
            <a:extLst xmlns:a="http://schemas.openxmlformats.org/drawingml/2006/main">
              <a:ext uri="{FF2B5EF4-FFF2-40B4-BE49-F238E27FC236}">
                <a16:creationId xmlns:a16="http://schemas.microsoft.com/office/drawing/2014/main" id="{B1DED617-383E-48C4-85B6-E244B1D8A182}"/>
              </a:ext>
            </a:extLst>
          </p:cNvPr>
          <p:cNvSpPr>
            <a:spLocks xmlns:a="http://schemas.openxmlformats.org/drawingml/2006/main" noGrp="1"/>
          </p:cNvSpPr>
          <p:nvPr/>
        </p:nvSpPr>
        <p:spPr>
          <a:xfrm xmlns:a="http://schemas.openxmlformats.org/drawingml/2006/main">
            <a:off x="1627632" y="2734056"/>
            <a:ext cx="950976"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750" b="1">
                <a:solidFill>
                  <a:srgbClr val="5B21B6"/>
                </a:solidFill>
              </a:rPr>
              <a:t>Gap flags</a:t>
            </a:r>
            <a:endParaRPr sz="750"/>
          </a:p>
          <a:p xmlns:a="http://schemas.openxmlformats.org/drawingml/2006/main">
            <a:pPr marL="0" indent="0" algn="ctr">
              <a:buNone/>
            </a:pPr>
            <a:r>
              <a:rPr sz="600">
                <a:solidFill>
                  <a:srgbClr val="5B21B6"/>
                </a:solidFill>
              </a:rPr>
              <a:t>missing = true</a:t>
            </a:r>
            <a:endParaRPr sz="750"/>
          </a:p>
        </p:txBody>
      </p:sp>
      <p:sp>
        <p:nvSpPr>
          <p:cNvPr id="52" name="Shape 50">
            <a:extLst xmlns:a="http://schemas.openxmlformats.org/drawingml/2006/main">
              <a:ext uri="{FF2B5EF4-FFF2-40B4-BE49-F238E27FC236}">
                <a16:creationId xmlns:a16="http://schemas.microsoft.com/office/drawing/2014/main" id="{99D7285C-B240-40D6-904B-1D5499258271}"/>
              </a:ext>
            </a:extLst>
          </p:cNvPr>
          <p:cNvSpPr>
            <a:spLocks xmlns:a="http://schemas.openxmlformats.org/drawingml/2006/main" noGrp="1"/>
          </p:cNvSpPr>
          <p:nvPr/>
        </p:nvSpPr>
        <p:spPr>
          <a:xfrm xmlns:a="http://schemas.openxmlformats.org/drawingml/2006/main" flipH="1">
            <a:off x="8641080" y="3017520"/>
            <a:ext cx="502920" cy="0"/>
          </a:xfrm>
          <a:prstGeom xmlns:a="http://schemas.openxmlformats.org/drawingml/2006/main" prst="line">
            <a:avLst/>
          </a:prstGeom>
          <a:noFill xmlns:a="http://schemas.openxmlformats.org/drawingml/2006/main"/>
          <a:ln xmlns:a="http://schemas.openxmlformats.org/drawingml/2006/main" w="11430">
            <a:solidFill>
              <a:srgbClr val="111827"/>
            </a:solidFill>
            <a:prstDash val="solid"/>
            <a:tailEnd type="triangle"/>
          </a:ln>
        </p:spPr>
      </p:sp>
      <p:sp>
        <p:nvSpPr>
          <p:cNvPr id="53" name="Shape 51">
            <a:extLst xmlns:a="http://schemas.openxmlformats.org/drawingml/2006/main">
              <a:ext uri="{FF2B5EF4-FFF2-40B4-BE49-F238E27FC236}">
                <a16:creationId xmlns:a16="http://schemas.microsoft.com/office/drawing/2014/main" id="{1E37F4A9-227A-46A5-B403-33E057A155F0}"/>
              </a:ext>
            </a:extLst>
          </p:cNvPr>
          <p:cNvSpPr>
            <a:spLocks xmlns:a="http://schemas.openxmlformats.org/drawingml/2006/main" noGrp="1"/>
          </p:cNvSpPr>
          <p:nvPr/>
        </p:nvSpPr>
        <p:spPr>
          <a:xfrm xmlns:a="http://schemas.openxmlformats.org/drawingml/2006/main" flipH="1">
            <a:off x="7132320" y="3017520"/>
            <a:ext cx="502920" cy="0"/>
          </a:xfrm>
          <a:prstGeom xmlns:a="http://schemas.openxmlformats.org/drawingml/2006/main" prst="line">
            <a:avLst/>
          </a:prstGeom>
          <a:noFill xmlns:a="http://schemas.openxmlformats.org/drawingml/2006/main"/>
          <a:ln xmlns:a="http://schemas.openxmlformats.org/drawingml/2006/main" w="11430">
            <a:solidFill>
              <a:srgbClr val="111827"/>
            </a:solidFill>
            <a:prstDash val="solid"/>
            <a:tailEnd type="triangle"/>
          </a:ln>
        </p:spPr>
      </p:sp>
      <p:sp>
        <p:nvSpPr>
          <p:cNvPr id="54" name="Shape 52">
            <a:extLst xmlns:a="http://schemas.openxmlformats.org/drawingml/2006/main">
              <a:ext uri="{FF2B5EF4-FFF2-40B4-BE49-F238E27FC236}">
                <a16:creationId xmlns:a16="http://schemas.microsoft.com/office/drawing/2014/main" id="{AC2CF331-FA1E-4BE2-BB44-3D40CB4F37A4}"/>
              </a:ext>
            </a:extLst>
          </p:cNvPr>
          <p:cNvSpPr>
            <a:spLocks xmlns:a="http://schemas.openxmlformats.org/drawingml/2006/main" noGrp="1"/>
          </p:cNvSpPr>
          <p:nvPr/>
        </p:nvSpPr>
        <p:spPr>
          <a:xfrm xmlns:a="http://schemas.openxmlformats.org/drawingml/2006/main" flipH="1">
            <a:off x="5623560" y="3017520"/>
            <a:ext cx="502920" cy="0"/>
          </a:xfrm>
          <a:prstGeom xmlns:a="http://schemas.openxmlformats.org/drawingml/2006/main" prst="line">
            <a:avLst/>
          </a:prstGeom>
          <a:noFill xmlns:a="http://schemas.openxmlformats.org/drawingml/2006/main"/>
          <a:ln xmlns:a="http://schemas.openxmlformats.org/drawingml/2006/main" w="11430">
            <a:solidFill>
              <a:srgbClr val="111827"/>
            </a:solidFill>
            <a:prstDash val="solid"/>
            <a:tailEnd type="triangle"/>
          </a:ln>
        </p:spPr>
      </p:sp>
      <p:sp>
        <p:nvSpPr>
          <p:cNvPr id="55" name="Text 53">
            <a:extLst xmlns:a="http://schemas.openxmlformats.org/drawingml/2006/main">
              <a:ext uri="{FF2B5EF4-FFF2-40B4-BE49-F238E27FC236}">
                <a16:creationId xmlns:a16="http://schemas.microsoft.com/office/drawing/2014/main" id="{0B99038C-851F-4834-988B-AD8CF52A38BC}"/>
              </a:ext>
            </a:extLst>
          </p:cNvPr>
          <p:cNvSpPr>
            <a:spLocks xmlns:a="http://schemas.openxmlformats.org/drawingml/2006/main" noGrp="1"/>
          </p:cNvSpPr>
          <p:nvPr/>
        </p:nvSpPr>
        <p:spPr>
          <a:xfrm xmlns:a="http://schemas.openxmlformats.org/drawingml/2006/main">
            <a:off x="5971032" y="3026664"/>
            <a:ext cx="137160" cy="914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600" b="1">
                <a:solidFill>
                  <a:srgbClr val="1E88E5"/>
                </a:solidFill>
              </a:rPr>
              <a:t>Y</a:t>
            </a:r>
            <a:endParaRPr sz="600"/>
          </a:p>
        </p:txBody>
      </p:sp>
      <p:sp>
        <p:nvSpPr>
          <p:cNvPr id="56" name="Shape 54">
            <a:extLst xmlns:a="http://schemas.openxmlformats.org/drawingml/2006/main">
              <a:ext uri="{FF2B5EF4-FFF2-40B4-BE49-F238E27FC236}">
                <a16:creationId xmlns:a16="http://schemas.microsoft.com/office/drawing/2014/main" id="{34D5F5D8-9A61-4548-9D0C-699AA938AC7E}"/>
              </a:ext>
            </a:extLst>
          </p:cNvPr>
          <p:cNvSpPr>
            <a:spLocks xmlns:a="http://schemas.openxmlformats.org/drawingml/2006/main" noGrp="1"/>
          </p:cNvSpPr>
          <p:nvPr/>
        </p:nvSpPr>
        <p:spPr>
          <a:xfrm xmlns:a="http://schemas.openxmlformats.org/drawingml/2006/main" flipH="1">
            <a:off x="4114800" y="3017520"/>
            <a:ext cx="502920" cy="0"/>
          </a:xfrm>
          <a:prstGeom xmlns:a="http://schemas.openxmlformats.org/drawingml/2006/main" prst="line">
            <a:avLst/>
          </a:prstGeom>
          <a:noFill xmlns:a="http://schemas.openxmlformats.org/drawingml/2006/main"/>
          <a:ln xmlns:a="http://schemas.openxmlformats.org/drawingml/2006/main" w="11430">
            <a:solidFill>
              <a:srgbClr val="111827"/>
            </a:solidFill>
            <a:prstDash val="solid"/>
            <a:tailEnd type="triangle"/>
          </a:ln>
        </p:spPr>
      </p:sp>
      <p:sp>
        <p:nvSpPr>
          <p:cNvPr id="57" name="Text 55">
            <a:extLst xmlns:a="http://schemas.openxmlformats.org/drawingml/2006/main">
              <a:ext uri="{FF2B5EF4-FFF2-40B4-BE49-F238E27FC236}">
                <a16:creationId xmlns:a16="http://schemas.microsoft.com/office/drawing/2014/main" id="{A291BEB7-9466-4D81-9D06-80603D7A17CA}"/>
              </a:ext>
            </a:extLst>
          </p:cNvPr>
          <p:cNvSpPr>
            <a:spLocks xmlns:a="http://schemas.openxmlformats.org/drawingml/2006/main" noGrp="1"/>
          </p:cNvSpPr>
          <p:nvPr/>
        </p:nvSpPr>
        <p:spPr>
          <a:xfrm xmlns:a="http://schemas.openxmlformats.org/drawingml/2006/main">
            <a:off x="4128516" y="2880360"/>
            <a:ext cx="475488" cy="1097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600" i="1">
                <a:solidFill>
                  <a:srgbClr val="1F2937"/>
                </a:solidFill>
              </a:rPr>
              <a:t>means</a:t>
            </a:r>
            <a:endParaRPr sz="600"/>
          </a:p>
        </p:txBody>
      </p:sp>
      <p:sp>
        <p:nvSpPr>
          <p:cNvPr id="58" name="Shape 56">
            <a:extLst xmlns:a="http://schemas.openxmlformats.org/drawingml/2006/main">
              <a:ext uri="{FF2B5EF4-FFF2-40B4-BE49-F238E27FC236}">
                <a16:creationId xmlns:a16="http://schemas.microsoft.com/office/drawing/2014/main" id="{3CE0148C-782B-4747-B511-2BF2C5F4C4E2}"/>
              </a:ext>
            </a:extLst>
          </p:cNvPr>
          <p:cNvSpPr>
            <a:spLocks xmlns:a="http://schemas.openxmlformats.org/drawingml/2006/main" noGrp="1"/>
          </p:cNvSpPr>
          <p:nvPr/>
        </p:nvSpPr>
        <p:spPr>
          <a:xfrm xmlns:a="http://schemas.openxmlformats.org/drawingml/2006/main" flipH="1">
            <a:off x="2606040" y="3017520"/>
            <a:ext cx="502920" cy="0"/>
          </a:xfrm>
          <a:prstGeom xmlns:a="http://schemas.openxmlformats.org/drawingml/2006/main" prst="line">
            <a:avLst/>
          </a:prstGeom>
          <a:noFill xmlns:a="http://schemas.openxmlformats.org/drawingml/2006/main"/>
          <a:ln xmlns:a="http://schemas.openxmlformats.org/drawingml/2006/main" w="11430">
            <a:solidFill>
              <a:srgbClr val="111827"/>
            </a:solidFill>
            <a:prstDash val="solid"/>
            <a:tailEnd type="triangle"/>
          </a:ln>
        </p:spPr>
      </p:sp>
      <p:sp>
        <p:nvSpPr>
          <p:cNvPr id="59" name="Shape 57">
            <a:extLst xmlns:a="http://schemas.openxmlformats.org/drawingml/2006/main">
              <a:ext uri="{FF2B5EF4-FFF2-40B4-BE49-F238E27FC236}">
                <a16:creationId xmlns:a16="http://schemas.microsoft.com/office/drawing/2014/main" id="{E0D9D114-A444-40C8-AF0B-80CB678A16BC}"/>
              </a:ext>
            </a:extLst>
          </p:cNvPr>
          <p:cNvSpPr>
            <a:spLocks xmlns:a="http://schemas.openxmlformats.org/drawingml/2006/main" noGrp="1"/>
          </p:cNvSpPr>
          <p:nvPr/>
        </p:nvSpPr>
        <p:spPr>
          <a:xfrm xmlns:a="http://schemas.openxmlformats.org/drawingml/2006/main">
            <a:off x="9646920" y="1792224"/>
            <a:ext cx="0" cy="941832"/>
          </a:xfrm>
          <a:prstGeom xmlns:a="http://schemas.openxmlformats.org/drawingml/2006/main" prst="line">
            <a:avLst/>
          </a:prstGeom>
          <a:noFill xmlns:a="http://schemas.openxmlformats.org/drawingml/2006/main"/>
          <a:ln xmlns:a="http://schemas.openxmlformats.org/drawingml/2006/main" w="11430">
            <a:solidFill>
              <a:srgbClr val="111827"/>
            </a:solidFill>
            <a:prstDash val="solid"/>
            <a:tailEnd type="triangle"/>
          </a:ln>
        </p:spPr>
      </p:sp>
      <p:sp>
        <p:nvSpPr>
          <p:cNvPr id="60" name="Text 58">
            <a:extLst xmlns:a="http://schemas.openxmlformats.org/drawingml/2006/main">
              <a:ext uri="{FF2B5EF4-FFF2-40B4-BE49-F238E27FC236}">
                <a16:creationId xmlns:a16="http://schemas.microsoft.com/office/drawing/2014/main" id="{52CF3E14-1C91-460E-8C0E-6D1E337F5ACC}"/>
              </a:ext>
            </a:extLst>
          </p:cNvPr>
          <p:cNvSpPr>
            <a:spLocks xmlns:a="http://schemas.openxmlformats.org/drawingml/2006/main" noGrp="1"/>
          </p:cNvSpPr>
          <p:nvPr/>
        </p:nvSpPr>
        <p:spPr>
          <a:xfrm xmlns:a="http://schemas.openxmlformats.org/drawingml/2006/main">
            <a:off x="9692640" y="2208276"/>
            <a:ext cx="822960" cy="1097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600" i="1">
                <a:solidFill>
                  <a:srgbClr val="1F2937"/>
                </a:solidFill>
              </a:rPr>
              <a:t>merged table</a:t>
            </a:r>
            <a:endParaRPr sz="600"/>
          </a:p>
        </p:txBody>
      </p:sp>
      <p:sp>
        <p:nvSpPr>
          <p:cNvPr id="61" name="Shape 59">
            <a:extLst xmlns:a="http://schemas.openxmlformats.org/drawingml/2006/main">
              <a:ext uri="{FF2B5EF4-FFF2-40B4-BE49-F238E27FC236}">
                <a16:creationId xmlns:a16="http://schemas.microsoft.com/office/drawing/2014/main" id="{BAEA6F03-07A7-43B0-B956-71A5DB36EB02}"/>
              </a:ext>
            </a:extLst>
          </p:cNvPr>
          <p:cNvSpPr>
            <a:spLocks xmlns:a="http://schemas.openxmlformats.org/drawingml/2006/main" noGrp="1"/>
          </p:cNvSpPr>
          <p:nvPr/>
        </p:nvSpPr>
        <p:spPr>
          <a:xfrm xmlns:a="http://schemas.openxmlformats.org/drawingml/2006/main">
            <a:off x="1600200" y="4242816"/>
            <a:ext cx="1005840" cy="566928"/>
          </a:xfrm>
          <a:prstGeom xmlns:a="http://schemas.openxmlformats.org/drawingml/2006/main" prst="roundRect">
            <a:avLst>
              <a:gd name="adj" fmla="val 6452"/>
            </a:avLst>
          </a:prstGeom>
          <a:solidFill xmlns:a="http://schemas.openxmlformats.org/drawingml/2006/main">
            <a:srgbClr val="F5F3FF"/>
          </a:solidFill>
          <a:ln xmlns:a="http://schemas.openxmlformats.org/drawingml/2006/main" w="11430">
            <a:solidFill>
              <a:srgbClr val="C4B5FD"/>
            </a:solidFill>
            <a:prstDash val="solid"/>
          </a:ln>
        </p:spPr>
      </p:sp>
      <p:sp>
        <p:nvSpPr>
          <p:cNvPr id="62" name="Text 60">
            <a:extLst xmlns:a="http://schemas.openxmlformats.org/drawingml/2006/main">
              <a:ext uri="{FF2B5EF4-FFF2-40B4-BE49-F238E27FC236}">
                <a16:creationId xmlns:a16="http://schemas.microsoft.com/office/drawing/2014/main" id="{33EA4216-3EED-4B45-B8F0-369BE45CD4DB}"/>
              </a:ext>
            </a:extLst>
          </p:cNvPr>
          <p:cNvSpPr>
            <a:spLocks xmlns:a="http://schemas.openxmlformats.org/drawingml/2006/main" noGrp="1"/>
          </p:cNvSpPr>
          <p:nvPr/>
        </p:nvSpPr>
        <p:spPr>
          <a:xfrm xmlns:a="http://schemas.openxmlformats.org/drawingml/2006/main">
            <a:off x="1627632" y="4242816"/>
            <a:ext cx="950976"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750" b="1">
                <a:solidFill>
                  <a:srgbClr val="5B21B6"/>
                </a:solidFill>
              </a:rPr>
              <a:t>Build rows</a:t>
            </a:r>
            <a:endParaRPr sz="750"/>
          </a:p>
          <a:p xmlns:a="http://schemas.openxmlformats.org/drawingml/2006/main">
            <a:pPr marL="0" indent="0" algn="ctr">
              <a:buNone/>
            </a:pPr>
            <a:r>
              <a:rPr sz="600">
                <a:solidFill>
                  <a:srgbClr val="5B21B6"/>
                </a:solidFill>
              </a:rPr>
              <a:t>date, metric, value, gap</a:t>
            </a:r>
            <a:endParaRPr sz="750"/>
          </a:p>
        </p:txBody>
      </p:sp>
      <p:sp>
        <p:nvSpPr>
          <p:cNvPr id="63" name="Shape 61">
            <a:extLst xmlns:a="http://schemas.openxmlformats.org/drawingml/2006/main">
              <a:ext uri="{FF2B5EF4-FFF2-40B4-BE49-F238E27FC236}">
                <a16:creationId xmlns:a16="http://schemas.microsoft.com/office/drawing/2014/main" id="{65F8F6B0-C9FD-440F-B5D8-A5BD846A7315}"/>
              </a:ext>
            </a:extLst>
          </p:cNvPr>
          <p:cNvSpPr>
            <a:spLocks xmlns:a="http://schemas.openxmlformats.org/drawingml/2006/main" noGrp="1"/>
          </p:cNvSpPr>
          <p:nvPr/>
        </p:nvSpPr>
        <p:spPr>
          <a:xfrm xmlns:a="http://schemas.openxmlformats.org/drawingml/2006/main">
            <a:off x="3108960" y="4160520"/>
            <a:ext cx="1005840" cy="731520"/>
          </a:xfrm>
          <a:prstGeom xmlns:a="http://schemas.openxmlformats.org/drawingml/2006/main" prst="diamond">
            <a:avLst/>
          </a:prstGeom>
          <a:solidFill xmlns:a="http://schemas.openxmlformats.org/drawingml/2006/main">
            <a:srgbClr val="FFFFFF"/>
          </a:solidFill>
          <a:ln xmlns:a="http://schemas.openxmlformats.org/drawingml/2006/main" w="11430">
            <a:solidFill>
              <a:srgbClr val="111827"/>
            </a:solidFill>
            <a:prstDash val="solid"/>
          </a:ln>
        </p:spPr>
      </p:sp>
      <p:sp>
        <p:nvSpPr>
          <p:cNvPr id="64" name="Text 62">
            <a:extLst xmlns:a="http://schemas.openxmlformats.org/drawingml/2006/main">
              <a:ext uri="{FF2B5EF4-FFF2-40B4-BE49-F238E27FC236}">
                <a16:creationId xmlns:a16="http://schemas.microsoft.com/office/drawing/2014/main" id="{7C2B10F3-56BB-4FEE-B178-5F405E9A9564}"/>
              </a:ext>
            </a:extLst>
          </p:cNvPr>
          <p:cNvSpPr>
            <a:spLocks xmlns:a="http://schemas.openxmlformats.org/drawingml/2006/main" noGrp="1"/>
          </p:cNvSpPr>
          <p:nvPr/>
        </p:nvSpPr>
        <p:spPr>
          <a:xfrm xmlns:a="http://schemas.openxmlformats.org/drawingml/2006/main">
            <a:off x="3310128" y="4160520"/>
            <a:ext cx="603504"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600">
                <a:solidFill>
                  <a:srgbClr val="111827"/>
                </a:solidFill>
              </a:rPr>
              <a:t>Write</a:t>
            </a:r>
            <a:endParaRPr sz="600"/>
          </a:p>
          <a:p xmlns:a="http://schemas.openxmlformats.org/drawingml/2006/main">
            <a:pPr marL="0" indent="0" algn="ctr">
              <a:buNone/>
            </a:pPr>
            <a:r>
              <a:rPr sz="600">
                <a:solidFill>
                  <a:srgbClr val="111827"/>
                </a:solidFill>
              </a:rPr>
              <a:t>ok?</a:t>
            </a:r>
            <a:endParaRPr sz="600"/>
          </a:p>
        </p:txBody>
      </p:sp>
      <p:sp>
        <p:nvSpPr>
          <p:cNvPr id="65" name="Shape 63">
            <a:extLst xmlns:a="http://schemas.openxmlformats.org/drawingml/2006/main">
              <a:ext uri="{FF2B5EF4-FFF2-40B4-BE49-F238E27FC236}">
                <a16:creationId xmlns:a16="http://schemas.microsoft.com/office/drawing/2014/main" id="{25C21485-01FE-468B-AC44-50437C6F302A}"/>
              </a:ext>
            </a:extLst>
          </p:cNvPr>
          <p:cNvSpPr>
            <a:spLocks xmlns:a="http://schemas.openxmlformats.org/drawingml/2006/main" noGrp="1"/>
          </p:cNvSpPr>
          <p:nvPr/>
        </p:nvSpPr>
        <p:spPr>
          <a:xfrm xmlns:a="http://schemas.openxmlformats.org/drawingml/2006/main">
            <a:off x="3108960" y="4983480"/>
            <a:ext cx="1005840" cy="347472"/>
          </a:xfrm>
          <a:prstGeom xmlns:a="http://schemas.openxmlformats.org/drawingml/2006/main" prst="roundRect">
            <a:avLst>
              <a:gd name="adj" fmla="val 7895"/>
            </a:avLst>
          </a:prstGeom>
          <a:solidFill xmlns:a="http://schemas.openxmlformats.org/drawingml/2006/main">
            <a:srgbClr val="FEF2F2"/>
          </a:solidFill>
          <a:ln xmlns:a="http://schemas.openxmlformats.org/drawingml/2006/main" w="11430">
            <a:solidFill>
              <a:srgbClr val="B91C1C"/>
            </a:solidFill>
            <a:prstDash val="solid"/>
          </a:ln>
        </p:spPr>
      </p:sp>
      <p:sp>
        <p:nvSpPr>
          <p:cNvPr id="66" name="Text 64">
            <a:extLst xmlns:a="http://schemas.openxmlformats.org/drawingml/2006/main">
              <a:ext uri="{FF2B5EF4-FFF2-40B4-BE49-F238E27FC236}">
                <a16:creationId xmlns:a16="http://schemas.microsoft.com/office/drawing/2014/main" id="{0AA55CEA-0B5C-42F8-A92F-F207A572210C}"/>
              </a:ext>
            </a:extLst>
          </p:cNvPr>
          <p:cNvSpPr>
            <a:spLocks xmlns:a="http://schemas.openxmlformats.org/drawingml/2006/main" noGrp="1"/>
          </p:cNvSpPr>
          <p:nvPr/>
        </p:nvSpPr>
        <p:spPr>
          <a:xfrm xmlns:a="http://schemas.openxmlformats.org/drawingml/2006/main">
            <a:off x="3127248" y="4983480"/>
            <a:ext cx="969264"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550" b="1">
                <a:solidFill>
                  <a:srgbClr val="111827"/>
                </a:solidFill>
              </a:rPr>
              <a:t>Error 6: write failed</a:t>
            </a:r>
            <a:endParaRPr sz="550"/>
          </a:p>
          <a:p xmlns:a="http://schemas.openxmlformats.org/drawingml/2006/main">
            <a:pPr marL="0" indent="0" algn="ctr">
              <a:buNone/>
            </a:pPr>
            <a:r>
              <a:rPr sz="550">
                <a:solidFill>
                  <a:srgbClr val="111827"/>
                </a:solidFill>
              </a:rPr>
              <a:t>retry, alert admin</a:t>
            </a:r>
            <a:endParaRPr sz="550"/>
          </a:p>
        </p:txBody>
      </p:sp>
      <p:sp>
        <p:nvSpPr>
          <p:cNvPr id="67" name="Shape 65">
            <a:extLst xmlns:a="http://schemas.openxmlformats.org/drawingml/2006/main">
              <a:ext uri="{FF2B5EF4-FFF2-40B4-BE49-F238E27FC236}">
                <a16:creationId xmlns:a16="http://schemas.microsoft.com/office/drawing/2014/main" id="{605B3C2C-C4A6-4E0C-A615-EEBBEBEA0037}"/>
              </a:ext>
            </a:extLst>
          </p:cNvPr>
          <p:cNvSpPr>
            <a:spLocks xmlns:a="http://schemas.openxmlformats.org/drawingml/2006/main" noGrp="1"/>
          </p:cNvSpPr>
          <p:nvPr/>
        </p:nvSpPr>
        <p:spPr>
          <a:xfrm xmlns:a="http://schemas.openxmlformats.org/drawingml/2006/main">
            <a:off x="3611880" y="4892040"/>
            <a:ext cx="0" cy="91440"/>
          </a:xfrm>
          <a:prstGeom xmlns:a="http://schemas.openxmlformats.org/drawingml/2006/main" prst="line">
            <a:avLst/>
          </a:prstGeom>
          <a:noFill xmlns:a="http://schemas.openxmlformats.org/drawingml/2006/main"/>
          <a:ln xmlns:a="http://schemas.openxmlformats.org/drawingml/2006/main" w="11430">
            <a:solidFill>
              <a:srgbClr val="B91C1C"/>
            </a:solidFill>
            <a:prstDash val="solid"/>
            <a:tailEnd type="triangle"/>
          </a:ln>
        </p:spPr>
      </p:sp>
      <p:sp>
        <p:nvSpPr>
          <p:cNvPr id="68" name="Text 66">
            <a:extLst xmlns:a="http://schemas.openxmlformats.org/drawingml/2006/main">
              <a:ext uri="{FF2B5EF4-FFF2-40B4-BE49-F238E27FC236}">
                <a16:creationId xmlns:a16="http://schemas.microsoft.com/office/drawing/2014/main" id="{68EEDBA5-C6FF-4069-A477-B42BAFC101AA}"/>
              </a:ext>
            </a:extLst>
          </p:cNvPr>
          <p:cNvSpPr>
            <a:spLocks xmlns:a="http://schemas.openxmlformats.org/drawingml/2006/main" noGrp="1"/>
          </p:cNvSpPr>
          <p:nvPr/>
        </p:nvSpPr>
        <p:spPr>
          <a:xfrm xmlns:a="http://schemas.openxmlformats.org/drawingml/2006/main">
            <a:off x="3657600" y="4892040"/>
            <a:ext cx="137160" cy="914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600" b="1">
                <a:solidFill>
                  <a:srgbClr val="B91C1C"/>
                </a:solidFill>
              </a:rPr>
              <a:t>N</a:t>
            </a:r>
            <a:endParaRPr sz="600"/>
          </a:p>
        </p:txBody>
      </p:sp>
      <p:sp>
        <p:nvSpPr>
          <p:cNvPr id="69" name="Shape 67">
            <a:extLst xmlns:a="http://schemas.openxmlformats.org/drawingml/2006/main">
              <a:ext uri="{FF2B5EF4-FFF2-40B4-BE49-F238E27FC236}">
                <a16:creationId xmlns:a16="http://schemas.microsoft.com/office/drawing/2014/main" id="{4563851A-5900-47AD-9418-8C15A976FCB9}"/>
              </a:ext>
            </a:extLst>
          </p:cNvPr>
          <p:cNvSpPr>
            <a:spLocks xmlns:a="http://schemas.openxmlformats.org/drawingml/2006/main" noGrp="1"/>
          </p:cNvSpPr>
          <p:nvPr/>
        </p:nvSpPr>
        <p:spPr>
          <a:xfrm xmlns:a="http://schemas.openxmlformats.org/drawingml/2006/main">
            <a:off x="4617720" y="4242816"/>
            <a:ext cx="1005840" cy="566928"/>
          </a:xfrm>
          <a:prstGeom xmlns:a="http://schemas.openxmlformats.org/drawingml/2006/main" prst="roundRect">
            <a:avLst>
              <a:gd name="adj" fmla="val 6452"/>
            </a:avLst>
          </a:prstGeom>
          <a:solidFill xmlns:a="http://schemas.openxmlformats.org/drawingml/2006/main">
            <a:srgbClr val="EFF6FF"/>
          </a:solidFill>
          <a:ln xmlns:a="http://schemas.openxmlformats.org/drawingml/2006/main" w="11430">
            <a:solidFill>
              <a:srgbClr val="93C5FD"/>
            </a:solidFill>
            <a:prstDash val="solid"/>
          </a:ln>
        </p:spPr>
      </p:sp>
      <p:sp>
        <p:nvSpPr>
          <p:cNvPr id="70" name="Text 68">
            <a:extLst xmlns:a="http://schemas.openxmlformats.org/drawingml/2006/main">
              <a:ext uri="{FF2B5EF4-FFF2-40B4-BE49-F238E27FC236}">
                <a16:creationId xmlns:a16="http://schemas.microsoft.com/office/drawing/2014/main" id="{D1746B6C-DF33-45D1-9635-D1AB876014A8}"/>
              </a:ext>
            </a:extLst>
          </p:cNvPr>
          <p:cNvSpPr>
            <a:spLocks xmlns:a="http://schemas.openxmlformats.org/drawingml/2006/main" noGrp="1"/>
          </p:cNvSpPr>
          <p:nvPr/>
        </p:nvSpPr>
        <p:spPr>
          <a:xfrm xmlns:a="http://schemas.openxmlformats.org/drawingml/2006/main">
            <a:off x="4645152" y="4242816"/>
            <a:ext cx="950976"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750" b="1">
                <a:solidFill>
                  <a:srgbClr val="1D4ED8"/>
                </a:solidFill>
              </a:rPr>
              <a:t>Upsert</a:t>
            </a:r>
            <a:endParaRPr sz="750"/>
          </a:p>
          <a:p xmlns:a="http://schemas.openxmlformats.org/drawingml/2006/main">
            <a:pPr marL="0" indent="0" algn="ctr">
              <a:buNone/>
            </a:pPr>
            <a:r>
              <a:rPr sz="600">
                <a:solidFill>
                  <a:srgbClr val="1D4ED8"/>
                </a:solidFill>
              </a:rPr>
              <a:t>daily_values table</a:t>
            </a:r>
            <a:endParaRPr sz="750"/>
          </a:p>
        </p:txBody>
      </p:sp>
      <p:sp>
        <p:nvSpPr>
          <p:cNvPr id="71" name="Shape 69">
            <a:extLst xmlns:a="http://schemas.openxmlformats.org/drawingml/2006/main">
              <a:ext uri="{FF2B5EF4-FFF2-40B4-BE49-F238E27FC236}">
                <a16:creationId xmlns:a16="http://schemas.microsoft.com/office/drawing/2014/main" id="{B4FCA5D0-F43F-4DA9-8500-5FFAE7FA7B8A}"/>
              </a:ext>
            </a:extLst>
          </p:cNvPr>
          <p:cNvSpPr>
            <a:spLocks xmlns:a="http://schemas.openxmlformats.org/drawingml/2006/main" noGrp="1"/>
          </p:cNvSpPr>
          <p:nvPr/>
        </p:nvSpPr>
        <p:spPr>
          <a:xfrm xmlns:a="http://schemas.openxmlformats.org/drawingml/2006/main">
            <a:off x="6126480" y="4242816"/>
            <a:ext cx="1005840" cy="566928"/>
          </a:xfrm>
          <a:prstGeom xmlns:a="http://schemas.openxmlformats.org/drawingml/2006/main" prst="roundRect">
            <a:avLst>
              <a:gd name="adj" fmla="val 6452"/>
            </a:avLst>
          </a:prstGeom>
          <a:solidFill xmlns:a="http://schemas.openxmlformats.org/drawingml/2006/main">
            <a:srgbClr val="EFF6FF"/>
          </a:solidFill>
          <a:ln xmlns:a="http://schemas.openxmlformats.org/drawingml/2006/main" w="11430">
            <a:solidFill>
              <a:srgbClr val="93C5FD"/>
            </a:solidFill>
            <a:prstDash val="solid"/>
          </a:ln>
        </p:spPr>
      </p:sp>
      <p:sp>
        <p:nvSpPr>
          <p:cNvPr id="72" name="Text 70">
            <a:extLst xmlns:a="http://schemas.openxmlformats.org/drawingml/2006/main">
              <a:ext uri="{FF2B5EF4-FFF2-40B4-BE49-F238E27FC236}">
                <a16:creationId xmlns:a16="http://schemas.microsoft.com/office/drawing/2014/main" id="{CB657A88-8986-4D25-A2C5-383F5E025C32}"/>
              </a:ext>
            </a:extLst>
          </p:cNvPr>
          <p:cNvSpPr>
            <a:spLocks xmlns:a="http://schemas.openxmlformats.org/drawingml/2006/main" noGrp="1"/>
          </p:cNvSpPr>
          <p:nvPr/>
        </p:nvSpPr>
        <p:spPr>
          <a:xfrm xmlns:a="http://schemas.openxmlformats.org/drawingml/2006/main">
            <a:off x="6153912" y="4242816"/>
            <a:ext cx="950976"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750" b="1">
                <a:solidFill>
                  <a:srgbClr val="1D4ED8"/>
                </a:solidFill>
              </a:rPr>
              <a:t>Log the run</a:t>
            </a:r>
            <a:endParaRPr sz="750"/>
          </a:p>
          <a:p xmlns:a="http://schemas.openxmlformats.org/drawingml/2006/main">
            <a:pPr marL="0" indent="0" algn="ctr">
              <a:buNone/>
            </a:pPr>
            <a:r>
              <a:rPr sz="600">
                <a:solidFill>
                  <a:srgbClr val="1D4ED8"/>
                </a:solidFill>
              </a:rPr>
              <a:t>runs table</a:t>
            </a:r>
            <a:endParaRPr sz="750"/>
          </a:p>
        </p:txBody>
      </p:sp>
      <p:sp>
        <p:nvSpPr>
          <p:cNvPr id="73" name="Shape 71">
            <a:extLst xmlns:a="http://schemas.openxmlformats.org/drawingml/2006/main">
              <a:ext uri="{FF2B5EF4-FFF2-40B4-BE49-F238E27FC236}">
                <a16:creationId xmlns:a16="http://schemas.microsoft.com/office/drawing/2014/main" id="{64DCD0B7-2C0D-4541-89C9-1F400223592F}"/>
              </a:ext>
            </a:extLst>
          </p:cNvPr>
          <p:cNvSpPr>
            <a:spLocks xmlns:a="http://schemas.openxmlformats.org/drawingml/2006/main" noGrp="1"/>
          </p:cNvSpPr>
          <p:nvPr/>
        </p:nvSpPr>
        <p:spPr>
          <a:xfrm xmlns:a="http://schemas.openxmlformats.org/drawingml/2006/main">
            <a:off x="2606040" y="4526280"/>
            <a:ext cx="502920" cy="0"/>
          </a:xfrm>
          <a:prstGeom xmlns:a="http://schemas.openxmlformats.org/drawingml/2006/main" prst="line">
            <a:avLst/>
          </a:prstGeom>
          <a:noFill xmlns:a="http://schemas.openxmlformats.org/drawingml/2006/main"/>
          <a:ln xmlns:a="http://schemas.openxmlformats.org/drawingml/2006/main" w="11430">
            <a:solidFill>
              <a:srgbClr val="111827"/>
            </a:solidFill>
            <a:prstDash val="solid"/>
            <a:tailEnd type="triangle"/>
          </a:ln>
        </p:spPr>
      </p:sp>
      <p:sp>
        <p:nvSpPr>
          <p:cNvPr id="74" name="Text 72">
            <a:extLst xmlns:a="http://schemas.openxmlformats.org/drawingml/2006/main">
              <a:ext uri="{FF2B5EF4-FFF2-40B4-BE49-F238E27FC236}">
                <a16:creationId xmlns:a16="http://schemas.microsoft.com/office/drawing/2014/main" id="{F257157A-57EB-4743-AA8F-376BEA0E70D8}"/>
              </a:ext>
            </a:extLst>
          </p:cNvPr>
          <p:cNvSpPr>
            <a:spLocks xmlns:a="http://schemas.openxmlformats.org/drawingml/2006/main" noGrp="1"/>
          </p:cNvSpPr>
          <p:nvPr/>
        </p:nvSpPr>
        <p:spPr>
          <a:xfrm xmlns:a="http://schemas.openxmlformats.org/drawingml/2006/main">
            <a:off x="2619756" y="4389120"/>
            <a:ext cx="475488" cy="1097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600" i="1">
                <a:solidFill>
                  <a:srgbClr val="1F2937"/>
                </a:solidFill>
              </a:rPr>
              <a:t>rows</a:t>
            </a:r>
            <a:endParaRPr sz="600"/>
          </a:p>
        </p:txBody>
      </p:sp>
      <p:sp>
        <p:nvSpPr>
          <p:cNvPr id="75" name="Shape 73">
            <a:extLst xmlns:a="http://schemas.openxmlformats.org/drawingml/2006/main">
              <a:ext uri="{FF2B5EF4-FFF2-40B4-BE49-F238E27FC236}">
                <a16:creationId xmlns:a16="http://schemas.microsoft.com/office/drawing/2014/main" id="{9A4EF403-CEFF-4752-A4AB-BF64728A866E}"/>
              </a:ext>
            </a:extLst>
          </p:cNvPr>
          <p:cNvSpPr>
            <a:spLocks xmlns:a="http://schemas.openxmlformats.org/drawingml/2006/main" noGrp="1"/>
          </p:cNvSpPr>
          <p:nvPr/>
        </p:nvSpPr>
        <p:spPr>
          <a:xfrm xmlns:a="http://schemas.openxmlformats.org/drawingml/2006/main">
            <a:off x="4114800" y="4526280"/>
            <a:ext cx="502920" cy="0"/>
          </a:xfrm>
          <a:prstGeom xmlns:a="http://schemas.openxmlformats.org/drawingml/2006/main" prst="line">
            <a:avLst/>
          </a:prstGeom>
          <a:noFill xmlns:a="http://schemas.openxmlformats.org/drawingml/2006/main"/>
          <a:ln xmlns:a="http://schemas.openxmlformats.org/drawingml/2006/main" w="11430">
            <a:solidFill>
              <a:srgbClr val="111827"/>
            </a:solidFill>
            <a:prstDash val="solid"/>
            <a:tailEnd type="triangle"/>
          </a:ln>
        </p:spPr>
      </p:sp>
      <p:sp>
        <p:nvSpPr>
          <p:cNvPr id="76" name="Text 74">
            <a:extLst xmlns:a="http://schemas.openxmlformats.org/drawingml/2006/main">
              <a:ext uri="{FF2B5EF4-FFF2-40B4-BE49-F238E27FC236}">
                <a16:creationId xmlns:a16="http://schemas.microsoft.com/office/drawing/2014/main" id="{022BFB7F-BB62-4825-BB82-AA8E18ECFCE1}"/>
              </a:ext>
            </a:extLst>
          </p:cNvPr>
          <p:cNvSpPr>
            <a:spLocks xmlns:a="http://schemas.openxmlformats.org/drawingml/2006/main" noGrp="1"/>
          </p:cNvSpPr>
          <p:nvPr/>
        </p:nvSpPr>
        <p:spPr>
          <a:xfrm xmlns:a="http://schemas.openxmlformats.org/drawingml/2006/main">
            <a:off x="4133088" y="4535424"/>
            <a:ext cx="137160" cy="914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600" b="1">
                <a:solidFill>
                  <a:srgbClr val="1E88E5"/>
                </a:solidFill>
              </a:rPr>
              <a:t>Y</a:t>
            </a:r>
            <a:endParaRPr sz="600"/>
          </a:p>
        </p:txBody>
      </p:sp>
      <p:sp>
        <p:nvSpPr>
          <p:cNvPr id="77" name="Shape 75">
            <a:extLst xmlns:a="http://schemas.openxmlformats.org/drawingml/2006/main">
              <a:ext uri="{FF2B5EF4-FFF2-40B4-BE49-F238E27FC236}">
                <a16:creationId xmlns:a16="http://schemas.microsoft.com/office/drawing/2014/main" id="{B4231FA2-18FB-4CDE-9FB6-3A46BFAD5E78}"/>
              </a:ext>
            </a:extLst>
          </p:cNvPr>
          <p:cNvSpPr>
            <a:spLocks xmlns:a="http://schemas.openxmlformats.org/drawingml/2006/main" noGrp="1"/>
          </p:cNvSpPr>
          <p:nvPr/>
        </p:nvSpPr>
        <p:spPr>
          <a:xfrm xmlns:a="http://schemas.openxmlformats.org/drawingml/2006/main">
            <a:off x="5623560" y="4526280"/>
            <a:ext cx="502920" cy="0"/>
          </a:xfrm>
          <a:prstGeom xmlns:a="http://schemas.openxmlformats.org/drawingml/2006/main" prst="line">
            <a:avLst/>
          </a:prstGeom>
          <a:noFill xmlns:a="http://schemas.openxmlformats.org/drawingml/2006/main"/>
          <a:ln xmlns:a="http://schemas.openxmlformats.org/drawingml/2006/main" w="11430">
            <a:solidFill>
              <a:srgbClr val="111827"/>
            </a:solidFill>
            <a:prstDash val="solid"/>
            <a:tailEnd type="triangle"/>
          </a:ln>
        </p:spPr>
      </p:sp>
      <p:sp>
        <p:nvSpPr>
          <p:cNvPr id="78" name="Text 76">
            <a:extLst xmlns:a="http://schemas.openxmlformats.org/drawingml/2006/main">
              <a:ext uri="{FF2B5EF4-FFF2-40B4-BE49-F238E27FC236}">
                <a16:creationId xmlns:a16="http://schemas.microsoft.com/office/drawing/2014/main" id="{2238D73E-2708-47CD-ADB5-723BE42F077F}"/>
              </a:ext>
            </a:extLst>
          </p:cNvPr>
          <p:cNvSpPr>
            <a:spLocks xmlns:a="http://schemas.openxmlformats.org/drawingml/2006/main" noGrp="1"/>
          </p:cNvSpPr>
          <p:nvPr/>
        </p:nvSpPr>
        <p:spPr>
          <a:xfrm xmlns:a="http://schemas.openxmlformats.org/drawingml/2006/main">
            <a:off x="5637276" y="4389120"/>
            <a:ext cx="475488" cy="1097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600" i="1">
                <a:solidFill>
                  <a:srgbClr val="1F2937"/>
                </a:solidFill>
              </a:rPr>
              <a:t>SQL</a:t>
            </a:r>
            <a:endParaRPr sz="600"/>
          </a:p>
        </p:txBody>
      </p:sp>
      <p:sp>
        <p:nvSpPr>
          <p:cNvPr id="79" name="Shape 77">
            <a:extLst xmlns:a="http://schemas.openxmlformats.org/drawingml/2006/main">
              <a:ext uri="{FF2B5EF4-FFF2-40B4-BE49-F238E27FC236}">
                <a16:creationId xmlns:a16="http://schemas.microsoft.com/office/drawing/2014/main" id="{3CEDD995-9CF7-4D1F-B037-26EF798CD143}"/>
              </a:ext>
            </a:extLst>
          </p:cNvPr>
          <p:cNvSpPr>
            <a:spLocks xmlns:a="http://schemas.openxmlformats.org/drawingml/2006/main" noGrp="1"/>
          </p:cNvSpPr>
          <p:nvPr/>
        </p:nvSpPr>
        <p:spPr>
          <a:xfrm xmlns:a="http://schemas.openxmlformats.org/drawingml/2006/main">
            <a:off x="2103120" y="3300984"/>
            <a:ext cx="0" cy="941832"/>
          </a:xfrm>
          <a:prstGeom xmlns:a="http://schemas.openxmlformats.org/drawingml/2006/main" prst="line">
            <a:avLst/>
          </a:prstGeom>
          <a:noFill xmlns:a="http://schemas.openxmlformats.org/drawingml/2006/main"/>
          <a:ln xmlns:a="http://schemas.openxmlformats.org/drawingml/2006/main" w="11430">
            <a:solidFill>
              <a:srgbClr val="111827"/>
            </a:solidFill>
            <a:prstDash val="solid"/>
            <a:tailEnd type="triangle"/>
          </a:ln>
        </p:spPr>
      </p:sp>
      <p:sp>
        <p:nvSpPr>
          <p:cNvPr id="80" name="Text 78">
            <a:extLst xmlns:a="http://schemas.openxmlformats.org/drawingml/2006/main">
              <a:ext uri="{FF2B5EF4-FFF2-40B4-BE49-F238E27FC236}">
                <a16:creationId xmlns:a16="http://schemas.microsoft.com/office/drawing/2014/main" id="{3BBD2C58-9C94-4437-A278-F87930A53F26}"/>
              </a:ext>
            </a:extLst>
          </p:cNvPr>
          <p:cNvSpPr>
            <a:spLocks xmlns:a="http://schemas.openxmlformats.org/drawingml/2006/main" noGrp="1"/>
          </p:cNvSpPr>
          <p:nvPr/>
        </p:nvSpPr>
        <p:spPr>
          <a:xfrm xmlns:a="http://schemas.openxmlformats.org/drawingml/2006/main">
            <a:off x="2148840" y="3717036"/>
            <a:ext cx="822960" cy="1097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600" i="1">
                <a:solidFill>
                  <a:srgbClr val="1F2937"/>
                </a:solidFill>
              </a:rPr>
              <a:t>values</a:t>
            </a:r>
            <a:endParaRPr sz="600"/>
          </a:p>
        </p:txBody>
      </p:sp>
      <p:sp>
        <p:nvSpPr>
          <p:cNvPr id="81" name="Shape 79">
            <a:extLst xmlns:a="http://schemas.openxmlformats.org/drawingml/2006/main">
              <a:ext uri="{FF2B5EF4-FFF2-40B4-BE49-F238E27FC236}">
                <a16:creationId xmlns:a16="http://schemas.microsoft.com/office/drawing/2014/main" id="{056471CA-90B0-413C-A071-34707795023E}"/>
              </a:ext>
            </a:extLst>
          </p:cNvPr>
          <p:cNvSpPr>
            <a:spLocks xmlns:a="http://schemas.openxmlformats.org/drawingml/2006/main" noGrp="1"/>
          </p:cNvSpPr>
          <p:nvPr/>
        </p:nvSpPr>
        <p:spPr>
          <a:xfrm xmlns:a="http://schemas.openxmlformats.org/drawingml/2006/main">
            <a:off x="1600200" y="5623560"/>
            <a:ext cx="10058400" cy="384048"/>
          </a:xfrm>
          <a:prstGeom xmlns:a="http://schemas.openxmlformats.org/drawingml/2006/main" prst="roundRect">
            <a:avLst>
              <a:gd name="adj" fmla="val 9524"/>
            </a:avLst>
          </a:prstGeom>
          <a:solidFill xmlns:a="http://schemas.openxmlformats.org/drawingml/2006/main">
            <a:srgbClr val="EFF6FF"/>
          </a:solidFill>
          <a:ln xmlns:a="http://schemas.openxmlformats.org/drawingml/2006/main" w="11430">
            <a:solidFill>
              <a:srgbClr val="93C5FD"/>
            </a:solidFill>
            <a:prstDash val="solid"/>
          </a:ln>
        </p:spPr>
      </p:sp>
      <p:sp>
        <p:nvSpPr>
          <p:cNvPr id="82" name="Text 80">
            <a:extLst xmlns:a="http://schemas.openxmlformats.org/drawingml/2006/main">
              <a:ext uri="{FF2B5EF4-FFF2-40B4-BE49-F238E27FC236}">
                <a16:creationId xmlns:a16="http://schemas.microsoft.com/office/drawing/2014/main" id="{E6714A15-949C-4E93-BDDD-22668825862C}"/>
              </a:ext>
            </a:extLst>
          </p:cNvPr>
          <p:cNvSpPr>
            <a:spLocks xmlns:a="http://schemas.openxmlformats.org/drawingml/2006/main" noGrp="1"/>
          </p:cNvSpPr>
          <p:nvPr/>
        </p:nvSpPr>
        <p:spPr>
          <a:xfrm xmlns:a="http://schemas.openxmlformats.org/drawingml/2006/main">
            <a:off x="1600200" y="5623560"/>
            <a:ext cx="1005840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b="1">
                <a:solidFill>
                  <a:srgbClr val="1D4ED8"/>
                </a:solidFill>
              </a:rPr>
              <a:t>To: Database (daily_values), fetched by Python Backend and sent to Frontend</a:t>
            </a:r>
            <a:r>
              <a:rPr sz="800" b="1">
                <a:solidFill>
                  <a:srgbClr val="1D4ED8"/>
                </a:solidFill>
              </a:rPr>
              <a:t>  </a:t>
            </a:r>
            <a:r>
              <a:rPr sz="700">
                <a:solidFill>
                  <a:srgbClr val="1D4ED8"/>
                </a:solidFill>
              </a:rPr>
              <a:t>values are shown as they are; gaps stay gaps</a:t>
            </a:r>
            <a:endParaRPr sz="800"/>
          </a:p>
        </p:txBody>
      </p:sp>
      <p:sp>
        <p:nvSpPr>
          <p:cNvPr id="83" name="Shape 81">
            <a:extLst xmlns:a="http://schemas.openxmlformats.org/drawingml/2006/main">
              <a:ext uri="{FF2B5EF4-FFF2-40B4-BE49-F238E27FC236}">
                <a16:creationId xmlns:a16="http://schemas.microsoft.com/office/drawing/2014/main" id="{875FEC4E-3700-4306-90F9-229EDFA848F4}"/>
              </a:ext>
            </a:extLst>
          </p:cNvPr>
          <p:cNvSpPr>
            <a:spLocks xmlns:a="http://schemas.openxmlformats.org/drawingml/2006/main" noGrp="1"/>
          </p:cNvSpPr>
          <p:nvPr/>
        </p:nvSpPr>
        <p:spPr>
          <a:xfrm xmlns:a="http://schemas.openxmlformats.org/drawingml/2006/main">
            <a:off x="5120640" y="4809744"/>
            <a:ext cx="0" cy="813816"/>
          </a:xfrm>
          <a:prstGeom xmlns:a="http://schemas.openxmlformats.org/drawingml/2006/main" prst="line">
            <a:avLst/>
          </a:prstGeom>
          <a:noFill xmlns:a="http://schemas.openxmlformats.org/drawingml/2006/main"/>
          <a:ln xmlns:a="http://schemas.openxmlformats.org/drawingml/2006/main" w="11430">
            <a:solidFill>
              <a:srgbClr val="111827"/>
            </a:solidFill>
            <a:prstDash val="solid"/>
            <a:tailEnd type="triangle"/>
          </a:ln>
        </p:spPr>
      </p:sp>
      <p:sp>
        <p:nvSpPr>
          <p:cNvPr id="84" name="Text 82">
            <a:extLst xmlns:a="http://schemas.openxmlformats.org/drawingml/2006/main">
              <a:ext uri="{FF2B5EF4-FFF2-40B4-BE49-F238E27FC236}">
                <a16:creationId xmlns:a16="http://schemas.microsoft.com/office/drawing/2014/main" id="{FA6A1A36-7B9C-4DFE-A920-E40312D4E9F9}"/>
              </a:ext>
            </a:extLst>
          </p:cNvPr>
          <p:cNvSpPr>
            <a:spLocks xmlns:a="http://schemas.openxmlformats.org/drawingml/2006/main" noGrp="1"/>
          </p:cNvSpPr>
          <p:nvPr/>
        </p:nvSpPr>
        <p:spPr>
          <a:xfrm xmlns:a="http://schemas.openxmlformats.org/drawingml/2006/main">
            <a:off x="5166360" y="5458968"/>
            <a:ext cx="822960" cy="1097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600" i="1">
                <a:solidFill>
                  <a:srgbClr val="1F2937"/>
                </a:solidFill>
              </a:rPr>
              <a:t>SQL upsert</a:t>
            </a:r>
            <a:endParaRPr sz="600"/>
          </a:p>
        </p:txBody>
      </p:sp>
      <p:sp>
        <p:nvSpPr>
          <p:cNvPr id="85" name="Shape 83">
            <a:extLst xmlns:a="http://schemas.openxmlformats.org/drawingml/2006/main">
              <a:ext uri="{FF2B5EF4-FFF2-40B4-BE49-F238E27FC236}">
                <a16:creationId xmlns:a16="http://schemas.microsoft.com/office/drawing/2014/main" id="{DEBEA742-00DF-4684-A089-C43B494DD486}"/>
              </a:ext>
            </a:extLst>
          </p:cNvPr>
          <p:cNvSpPr>
            <a:spLocks xmlns:a="http://schemas.openxmlformats.org/drawingml/2006/main" noGrp="1"/>
          </p:cNvSpPr>
          <p:nvPr/>
        </p:nvSpPr>
        <p:spPr>
          <a:xfrm xmlns:a="http://schemas.openxmlformats.org/drawingml/2006/main">
            <a:off x="320040" y="6263640"/>
            <a:ext cx="256032" cy="146304"/>
          </a:xfrm>
          <a:prstGeom xmlns:a="http://schemas.openxmlformats.org/drawingml/2006/main" prst="roundRect">
            <a:avLst>
              <a:gd name="adj" fmla="val 18750"/>
            </a:avLst>
          </a:prstGeom>
          <a:solidFill xmlns:a="http://schemas.openxmlformats.org/drawingml/2006/main">
            <a:srgbClr val="EFF6FF"/>
          </a:solidFill>
          <a:ln xmlns:a="http://schemas.openxmlformats.org/drawingml/2006/main" w="11430">
            <a:solidFill>
              <a:srgbClr val="93C5FD"/>
            </a:solidFill>
            <a:prstDash val="solid"/>
          </a:ln>
        </p:spPr>
      </p:sp>
      <p:sp>
        <p:nvSpPr>
          <p:cNvPr id="86" name="Text 84">
            <a:extLst xmlns:a="http://schemas.openxmlformats.org/drawingml/2006/main">
              <a:ext uri="{FF2B5EF4-FFF2-40B4-BE49-F238E27FC236}">
                <a16:creationId xmlns:a16="http://schemas.microsoft.com/office/drawing/2014/main" id="{D6E81364-63B7-42FE-A367-706F2673269C}"/>
              </a:ext>
            </a:extLst>
          </p:cNvPr>
          <p:cNvSpPr>
            <a:spLocks xmlns:a="http://schemas.openxmlformats.org/drawingml/2006/main" noGrp="1"/>
          </p:cNvSpPr>
          <p:nvPr/>
        </p:nvSpPr>
        <p:spPr>
          <a:xfrm xmlns:a="http://schemas.openxmlformats.org/drawingml/2006/main">
            <a:off x="640080" y="6254496"/>
            <a:ext cx="15544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700">
                <a:solidFill>
                  <a:srgbClr val="374151"/>
                </a:solidFill>
              </a:rPr>
              <a:t>Data storage</a:t>
            </a:r>
            <a:endParaRPr sz="700"/>
          </a:p>
        </p:txBody>
      </p:sp>
      <p:sp>
        <p:nvSpPr>
          <p:cNvPr id="87" name="Shape 85">
            <a:extLst xmlns:a="http://schemas.openxmlformats.org/drawingml/2006/main">
              <a:ext uri="{FF2B5EF4-FFF2-40B4-BE49-F238E27FC236}">
                <a16:creationId xmlns:a16="http://schemas.microsoft.com/office/drawing/2014/main" id="{6942BF1C-66A7-4801-B7F8-90C92B8063F6}"/>
              </a:ext>
            </a:extLst>
          </p:cNvPr>
          <p:cNvSpPr>
            <a:spLocks xmlns:a="http://schemas.openxmlformats.org/drawingml/2006/main" noGrp="1"/>
          </p:cNvSpPr>
          <p:nvPr/>
        </p:nvSpPr>
        <p:spPr>
          <a:xfrm xmlns:a="http://schemas.openxmlformats.org/drawingml/2006/main">
            <a:off x="2240280" y="6263640"/>
            <a:ext cx="256032" cy="146304"/>
          </a:xfrm>
          <a:prstGeom xmlns:a="http://schemas.openxmlformats.org/drawingml/2006/main" prst="roundRect">
            <a:avLst>
              <a:gd name="adj" fmla="val 18750"/>
            </a:avLst>
          </a:prstGeom>
          <a:solidFill xmlns:a="http://schemas.openxmlformats.org/drawingml/2006/main">
            <a:srgbClr val="F5F3FF"/>
          </a:solidFill>
          <a:ln xmlns:a="http://schemas.openxmlformats.org/drawingml/2006/main" w="11430">
            <a:solidFill>
              <a:srgbClr val="C4B5FD"/>
            </a:solidFill>
            <a:prstDash val="solid"/>
          </a:ln>
        </p:spPr>
      </p:sp>
      <p:sp>
        <p:nvSpPr>
          <p:cNvPr id="88" name="Text 86">
            <a:extLst xmlns:a="http://schemas.openxmlformats.org/drawingml/2006/main">
              <a:ext uri="{FF2B5EF4-FFF2-40B4-BE49-F238E27FC236}">
                <a16:creationId xmlns:a16="http://schemas.microsoft.com/office/drawing/2014/main" id="{9CDD7CA9-6711-4DC8-8C14-02EEC0349CC4}"/>
              </a:ext>
            </a:extLst>
          </p:cNvPr>
          <p:cNvSpPr>
            <a:spLocks xmlns:a="http://schemas.openxmlformats.org/drawingml/2006/main" noGrp="1"/>
          </p:cNvSpPr>
          <p:nvPr/>
        </p:nvSpPr>
        <p:spPr>
          <a:xfrm xmlns:a="http://schemas.openxmlformats.org/drawingml/2006/main">
            <a:off x="2560320" y="6254496"/>
            <a:ext cx="15544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700">
                <a:solidFill>
                  <a:srgbClr val="374151"/>
                </a:solidFill>
              </a:rPr>
              <a:t>Our Python code</a:t>
            </a:r>
            <a:endParaRPr sz="700"/>
          </a:p>
        </p:txBody>
      </p:sp>
      <p:sp>
        <p:nvSpPr>
          <p:cNvPr id="89" name="Text 87">
            <a:extLst xmlns:a="http://schemas.openxmlformats.org/drawingml/2006/main">
              <a:ext uri="{FF2B5EF4-FFF2-40B4-BE49-F238E27FC236}">
                <a16:creationId xmlns:a16="http://schemas.microsoft.com/office/drawing/2014/main" id="{00681FAB-BFA1-4DA8-A7F4-3A7A61507858}"/>
              </a:ext>
            </a:extLst>
          </p:cNvPr>
          <p:cNvSpPr>
            <a:spLocks xmlns:a="http://schemas.openxmlformats.org/drawingml/2006/main" noGrp="1"/>
          </p:cNvSpPr>
          <p:nvPr/>
        </p:nvSpPr>
        <p:spPr>
          <a:xfrm xmlns:a="http://schemas.openxmlformats.org/drawingml/2006/main">
            <a:off x="320040" y="6510528"/>
            <a:ext cx="11521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750" i="1">
                <a:solidFill>
                  <a:srgbClr val="6B7280"/>
                </a:solidFill>
              </a:rPr>
              <a:t>Proposed design: details to be confirmed during implementation. Errors: 1 check-in missing, 6 write failed, 7 not enough data.</a:t>
            </a:r>
            <a:endParaRPr sz="750"/>
          </a:p>
        </p:txBody>
      </p:sp>
    </p:spTree>
    <p:extLst>
      <p:ext uri="{BB962C8B-B14F-4D97-AF65-F5344CB8AC3E}">
        <p14:creationId xmlns:p14="http://schemas.microsoft.com/office/powerpoint/2010/main" val="240621012"/>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7BF50AF-4A90-4324-BAD5-D59F83ED9CDB}"/>
              </a:ext>
            </a:extLst>
          </p:cNvPr>
          <p:cNvSpPr>
            <a:spLocks xmlns:a="http://schemas.openxmlformats.org/drawingml/2006/main" noGrp="1"/>
          </p:cNvSpPr>
          <p:nvPr/>
        </p:nvSpPr>
        <p:spPr>
          <a:xfrm xmlns:a="http://schemas.openxmlformats.org/drawingml/2006/main">
            <a:off x="457200" y="228600"/>
            <a:ext cx="11274552"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200" b="1">
                <a:solidFill>
                  <a:srgbClr val="1F2937"/>
                </a:solidFill>
              </a:rPr>
              <a:t>2c Processing: components in detail</a:t>
            </a:r>
            <a:endParaRPr sz="2200"/>
          </a:p>
        </p:txBody>
      </p:sp>
      <p:graphicFrame>
        <p:nvGraphicFramePr>
          <p:cNvPr id="3" name="Table 0">
            <a:extLst xmlns:a="http://schemas.openxmlformats.org/drawingml/2006/main">
              <a:ext uri="{FF2B5EF4-FFF2-40B4-BE49-F238E27FC236}">
                <a16:creationId xmlns:a16="http://schemas.microsoft.com/office/drawing/2014/main" id="{466B7693-B7A0-4D76-8D05-57B9DB4324A6}"/>
              </a:ext>
            </a:extLst>
          </p:cNvPr>
          <p:cNvGraphicFramePr/>
          <p:nvPr/>
        </p:nvGraphicFramePr>
        <p:xfrm>
          <a:off xmlns:a="http://schemas.openxmlformats.org/drawingml/2006/main" x="365760" y="822960"/>
          <a:ext xmlns:a="http://schemas.openxmlformats.org/drawingml/2006/main" cx="11430000" cy="914400"/>
        </p:xfrm>
        <a:graphic xmlns:a="http://schemas.openxmlformats.org/drawingml/2006/main">
          <a:graphicData uri="http://schemas.openxmlformats.org/drawingml/2006/table">
            <a:tbl>
              <a:tblPr/>
              <a:tblGrid>
                <a:gridCol w="1737360"/>
                <a:gridCol w="3383280"/>
                <a:gridCol w="3108960"/>
                <a:gridCol w="2103120"/>
                <a:gridCol w="1097280"/>
              </a:tblGrid>
              <a:tr h="457200">
                <a:tc>
                  <a:txBody>
                    <a:bodyPr/>
                    <a:lstStyle/>
                    <a:p>
                      <a:pPr marL="0" indent="0">
                        <a:buNone/>
                      </a:pPr>
                      <a:r>
                        <a:rPr sz="850" b="1">
                          <a:solidFill>
                            <a:srgbClr val="FFFFFF"/>
                          </a:solidFill>
                        </a:rPr>
                        <a:t>Component</a:t>
                      </a:r>
                      <a:endParaRPr sz="850"/>
                    </a:p>
                  </a:txBody>
                  <a:tcPr marL="63500" marR="63500" marT="25400" marB="25400" anchor="ctr">
                    <a:lnL w="9525" cmpd="sng">
                      <a:solidFill>
                        <a:srgbClr val="E5E7EB"/>
                      </a:solidFill>
                      <a:prstDash val="solid"/>
                    </a:lnL>
                    <a:lnR w="9525" cmpd="sng">
                      <a:solidFill>
                        <a:srgbClr val="E5E7EB"/>
                      </a:solidFill>
                      <a:prstDash val="solid"/>
                    </a:lnR>
                    <a:lnT w="9525" cmpd="sng">
                      <a:solidFill>
                        <a:srgbClr val="E5E7EB"/>
                      </a:solidFill>
                      <a:prstDash val="solid"/>
                    </a:lnT>
                    <a:lnB w="9525" cmpd="sng">
                      <a:solidFill>
                        <a:srgbClr val="E5E7EB"/>
                      </a:solidFill>
                      <a:prstDash val="solid"/>
                    </a:lnB>
                    <a:solidFill>
                      <a:srgbClr val="374151"/>
                    </a:solidFill>
                  </a:tcPr>
                </a:tc>
                <a:tc>
                  <a:txBody>
                    <a:bodyPr/>
                    <a:lstStyle/>
                    <a:p>
                      <a:pPr marL="0" indent="0">
                        <a:buNone/>
                      </a:pPr>
                      <a:r>
                        <a:rPr sz="850" b="1">
                          <a:solidFill>
                            <a:srgbClr val="FFFFFF"/>
                          </a:solidFill>
                        </a:rPr>
                        <a:t>What it is / does</a:t>
                      </a:r>
                      <a:endParaRPr sz="850"/>
                    </a:p>
                  </a:txBody>
                  <a:tcPr marL="63500" marR="63500" marT="25400" marB="25400" anchor="ctr">
                    <a:lnL w="9525" cmpd="sng">
                      <a:solidFill>
                        <a:srgbClr val="E5E7EB"/>
                      </a:solidFill>
                      <a:prstDash val="solid"/>
                    </a:lnL>
                    <a:lnR w="9525" cmpd="sng">
                      <a:solidFill>
                        <a:srgbClr val="E5E7EB"/>
                      </a:solidFill>
                      <a:prstDash val="solid"/>
                    </a:lnR>
                    <a:lnT w="9525" cmpd="sng">
                      <a:solidFill>
                        <a:srgbClr val="E5E7EB"/>
                      </a:solidFill>
                      <a:prstDash val="solid"/>
                    </a:lnT>
                    <a:lnB w="9525" cmpd="sng">
                      <a:solidFill>
                        <a:srgbClr val="E5E7EB"/>
                      </a:solidFill>
                      <a:prstDash val="solid"/>
                    </a:lnB>
                    <a:solidFill>
                      <a:srgbClr val="374151"/>
                    </a:solidFill>
                  </a:tcPr>
                </a:tc>
                <a:tc>
                  <a:txBody>
                    <a:bodyPr/>
                    <a:lstStyle/>
                    <a:p>
                      <a:pPr marL="0" indent="0">
                        <a:buNone/>
                      </a:pPr>
                      <a:r>
                        <a:rPr sz="850" b="1">
                          <a:solidFill>
                            <a:srgbClr val="FFFFFF"/>
                          </a:solidFill>
                        </a:rPr>
                        <a:t>Set-up</a:t>
                      </a:r>
                      <a:endParaRPr sz="850"/>
                    </a:p>
                  </a:txBody>
                  <a:tcPr marL="63500" marR="63500" marT="25400" marB="25400" anchor="ctr">
                    <a:lnL w="9525" cmpd="sng">
                      <a:solidFill>
                        <a:srgbClr val="E5E7EB"/>
                      </a:solidFill>
                      <a:prstDash val="solid"/>
                    </a:lnL>
                    <a:lnR w="9525" cmpd="sng">
                      <a:solidFill>
                        <a:srgbClr val="E5E7EB"/>
                      </a:solidFill>
                      <a:prstDash val="solid"/>
                    </a:lnR>
                    <a:lnT w="9525" cmpd="sng">
                      <a:solidFill>
                        <a:srgbClr val="E5E7EB"/>
                      </a:solidFill>
                      <a:prstDash val="solid"/>
                    </a:lnT>
                    <a:lnB w="9525" cmpd="sng">
                      <a:solidFill>
                        <a:srgbClr val="E5E7EB"/>
                      </a:solidFill>
                      <a:prstDash val="solid"/>
                    </a:lnB>
                    <a:solidFill>
                      <a:srgbClr val="374151"/>
                    </a:solidFill>
                  </a:tcPr>
                </a:tc>
                <a:tc>
                  <a:txBody>
                    <a:bodyPr/>
                    <a:lstStyle/>
                    <a:p>
                      <a:pPr marL="0" indent="0">
                        <a:buNone/>
                      </a:pPr>
                      <a:r>
                        <a:rPr sz="850" b="1">
                          <a:solidFill>
                            <a:srgbClr val="FFFFFF"/>
                          </a:solidFill>
                        </a:rPr>
                        <a:t>Data in -&gt; out</a:t>
                      </a:r>
                      <a:endParaRPr sz="850"/>
                    </a:p>
                  </a:txBody>
                  <a:tcPr marL="63500" marR="63500" marT="25400" marB="25400" anchor="ctr">
                    <a:lnL w="9525" cmpd="sng">
                      <a:solidFill>
                        <a:srgbClr val="E5E7EB"/>
                      </a:solidFill>
                      <a:prstDash val="solid"/>
                    </a:lnL>
                    <a:lnR w="9525" cmpd="sng">
                      <a:solidFill>
                        <a:srgbClr val="E5E7EB"/>
                      </a:solidFill>
                      <a:prstDash val="solid"/>
                    </a:lnR>
                    <a:lnT w="9525" cmpd="sng">
                      <a:solidFill>
                        <a:srgbClr val="E5E7EB"/>
                      </a:solidFill>
                      <a:prstDash val="solid"/>
                    </a:lnT>
                    <a:lnB w="9525" cmpd="sng">
                      <a:solidFill>
                        <a:srgbClr val="E5E7EB"/>
                      </a:solidFill>
                      <a:prstDash val="solid"/>
                    </a:lnB>
                    <a:solidFill>
                      <a:srgbClr val="374151"/>
                    </a:solidFill>
                  </a:tcPr>
                </a:tc>
                <a:tc>
                  <a:txBody>
                    <a:bodyPr/>
                    <a:lstStyle/>
                    <a:p>
                      <a:pPr marL="0" indent="0">
                        <a:buNone/>
                      </a:pPr>
                      <a:r>
                        <a:rPr sz="850" b="1">
                          <a:solidFill>
                            <a:srgbClr val="FFFFFF"/>
                          </a:solidFill>
                        </a:rPr>
                        <a:t>Errors</a:t>
                      </a:r>
                      <a:endParaRPr sz="850"/>
                    </a:p>
                  </a:txBody>
                  <a:tcPr marL="63500" marR="63500" marT="25400" marB="25400" anchor="ctr">
                    <a:lnL w="9525" cmpd="sng">
                      <a:solidFill>
                        <a:srgbClr val="E5E7EB"/>
                      </a:solidFill>
                      <a:prstDash val="solid"/>
                    </a:lnL>
                    <a:lnR w="9525" cmpd="sng">
                      <a:solidFill>
                        <a:srgbClr val="E5E7EB"/>
                      </a:solidFill>
                      <a:prstDash val="solid"/>
                    </a:lnR>
                    <a:lnT w="9525" cmpd="sng">
                      <a:solidFill>
                        <a:srgbClr val="E5E7EB"/>
                      </a:solidFill>
                      <a:prstDash val="solid"/>
                    </a:lnT>
                    <a:lnB w="9525" cmpd="sng">
                      <a:solidFill>
                        <a:srgbClr val="E5E7EB"/>
                      </a:solidFill>
                      <a:prstDash val="solid"/>
                    </a:lnB>
                    <a:solidFill>
                      <a:srgbClr val="374151"/>
                    </a:solidFill>
                  </a:tcPr>
                </a:tc>
              </a:tr>
              <a:tr h="457200">
                <a:tc>
                  <a:txBody>
                    <a:bodyPr/>
                    <a:lstStyle/>
                    <a:p>
                      <a:pPr marL="0" indent="0">
                        <a:buNone/>
                      </a:pPr>
                      <a:r>
                        <a:rPr sz="850">
                          <a:solidFill>
                            <a:srgbClr val="1F2937"/>
                          </a:solidFill>
                        </a:rPr>
                        <a:t>Read raw data</a:t>
                      </a:r>
                      <a:endParaRPr sz="850"/>
                    </a:p>
                  </a:txBody>
                  <a:tcPr marL="63500" marR="63500" marT="25400" marB="25400" anchor="ctr">
                    <a:lnL w="9525" cmpd="sng">
                      <a:solidFill>
                        <a:srgbClr val="E5E7EB"/>
                      </a:solidFill>
                      <a:prstDash val="solid"/>
                    </a:lnL>
                    <a:lnR w="9525" cmpd="sng">
                      <a:solidFill>
                        <a:srgbClr val="E5E7EB"/>
                      </a:solidFill>
                      <a:prstDash val="solid"/>
                    </a:lnR>
                    <a:lnT w="9525" cmpd="sng">
                      <a:solidFill>
                        <a:srgbClr val="E5E7EB"/>
                      </a:solidFill>
                      <a:prstDash val="solid"/>
                    </a:lnT>
                    <a:lnB w="9525" cmpd="sng">
                      <a:solidFill>
                        <a:srgbClr val="E5E7EB"/>
                      </a:solidFill>
                      <a:prstDash val="solid"/>
                    </a:lnB>
                  </a:tcPr>
                </a:tc>
                <a:tc>
                  <a:txBody>
                    <a:bodyPr/>
                    <a:lstStyle/>
                    <a:p>
                      <a:pPr marL="0" indent="0">
                        <a:buNone/>
                      </a:pPr>
                      <a:r>
                        <a:rPr sz="850">
                          <a:solidFill>
                            <a:srgbClr val="1F2937"/>
                          </a:solidFill>
                        </a:rPr>
                        <a:t>Reads raw_readings and checkins for the dates to process.</a:t>
                      </a:r>
                      <a:endParaRPr sz="850"/>
                    </a:p>
                  </a:txBody>
                  <a:tcPr marL="63500" marR="63500" marT="25400" marB="25400" anchor="ctr">
                    <a:lnL w="9525" cmpd="sng">
                      <a:solidFill>
                        <a:srgbClr val="E5E7EB"/>
                      </a:solidFill>
                      <a:prstDash val="solid"/>
                    </a:lnL>
                    <a:lnR w="9525" cmpd="sng">
                      <a:solidFill>
                        <a:srgbClr val="E5E7EB"/>
                      </a:solidFill>
                      <a:prstDash val="solid"/>
                    </a:lnR>
                    <a:lnT w="9525" cmpd="sng">
                      <a:solidFill>
                        <a:srgbClr val="E5E7EB"/>
                      </a:solidFill>
                      <a:prstDash val="solid"/>
                    </a:lnT>
                    <a:lnB w="9525" cmpd="sng">
                      <a:solidFill>
                        <a:srgbClr val="E5E7EB"/>
                      </a:solidFill>
                      <a:prstDash val="solid"/>
                    </a:lnB>
                  </a:tcPr>
                </a:tc>
                <a:tc>
                  <a:txBody>
                    <a:bodyPr/>
                    <a:lstStyle/>
                    <a:p>
                      <a:pPr marL="0" indent="0">
                        <a:buNone/>
                      </a:pPr>
                      <a:r>
                        <a:rPr sz="850">
                          <a:solidFill>
                            <a:srgbClr val="1F2937"/>
                          </a:solidFill>
                        </a:rPr>
                        <a:t>SQL query with pandas.</a:t>
                      </a:r>
                      <a:endParaRPr sz="850"/>
                    </a:p>
                  </a:txBody>
                  <a:tcPr marL="63500" marR="63500" marT="25400" marB="25400" anchor="ctr">
                    <a:lnL w="9525" cmpd="sng">
                      <a:solidFill>
                        <a:srgbClr val="E5E7EB"/>
                      </a:solidFill>
                      <a:prstDash val="solid"/>
                    </a:lnL>
                    <a:lnR w="9525" cmpd="sng">
                      <a:solidFill>
                        <a:srgbClr val="E5E7EB"/>
                      </a:solidFill>
                      <a:prstDash val="solid"/>
                    </a:lnR>
                    <a:lnT w="9525" cmpd="sng">
                      <a:solidFill>
                        <a:srgbClr val="E5E7EB"/>
                      </a:solidFill>
                      <a:prstDash val="solid"/>
                    </a:lnT>
                    <a:lnB w="9525" cmpd="sng">
                      <a:solidFill>
                        <a:srgbClr val="E5E7EB"/>
                      </a:solidFill>
                      <a:prstDash val="solid"/>
                    </a:lnB>
                  </a:tcPr>
                </a:tc>
                <a:tc>
                  <a:txBody>
                    <a:bodyPr/>
                    <a:lstStyle/>
                    <a:p>
                      <a:pPr marL="0" indent="0">
                        <a:buNone/>
                      </a:pPr>
                      <a:r>
                        <a:rPr sz="850">
                          <a:solidFill>
                            <a:srgbClr val="1F2937"/>
                          </a:solidFill>
                        </a:rPr>
                        <a:t>SQL rows -&gt; DataFrame</a:t>
                      </a:r>
                      <a:endParaRPr sz="850"/>
                    </a:p>
                  </a:txBody>
                  <a:tcPr marL="63500" marR="63500" marT="25400" marB="25400" anchor="ctr">
                    <a:lnL w="9525" cmpd="sng">
                      <a:solidFill>
                        <a:srgbClr val="E5E7EB"/>
                      </a:solidFill>
                      <a:prstDash val="solid"/>
                    </a:lnL>
                    <a:lnR w="9525" cmpd="sng">
                      <a:solidFill>
                        <a:srgbClr val="E5E7EB"/>
                      </a:solidFill>
                      <a:prstDash val="solid"/>
                    </a:lnR>
                    <a:lnT w="9525" cmpd="sng">
                      <a:solidFill>
                        <a:srgbClr val="E5E7EB"/>
                      </a:solidFill>
                      <a:prstDash val="solid"/>
                    </a:lnT>
                    <a:lnB w="9525" cmpd="sng">
                      <a:solidFill>
                        <a:srgbClr val="E5E7EB"/>
                      </a:solidFill>
                      <a:prstDash val="solid"/>
                    </a:lnB>
                  </a:tcPr>
                </a:tc>
                <a:tc>
                  <a:txBody>
                    <a:bodyPr/>
                    <a:lstStyle/>
                    <a:p>
                      <a:pPr marL="0" indent="0">
                        <a:buNone/>
                      </a:pPr>
                      <a:r>
                        <a:rPr sz="850">
                          <a:solidFill>
                            <a:srgbClr val="1F2937"/>
                          </a:solidFill>
                        </a:rPr>
                        <a:t>-</a:t>
                      </a:r>
                      <a:endParaRPr sz="850"/>
                    </a:p>
                  </a:txBody>
                  <a:tcPr marL="63500" marR="63500" marT="25400" marB="25400" anchor="ctr">
                    <a:lnL w="9525" cmpd="sng">
                      <a:solidFill>
                        <a:srgbClr val="E5E7EB"/>
                      </a:solidFill>
                      <a:prstDash val="solid"/>
                    </a:lnL>
                    <a:lnR w="9525" cmpd="sng">
                      <a:solidFill>
                        <a:srgbClr val="E5E7EB"/>
                      </a:solidFill>
                      <a:prstDash val="solid"/>
                    </a:lnR>
                    <a:lnT w="9525" cmpd="sng">
                      <a:solidFill>
                        <a:srgbClr val="E5E7EB"/>
                      </a:solidFill>
                      <a:prstDash val="solid"/>
                    </a:lnT>
                    <a:lnB w="9525" cmpd="sng">
                      <a:solidFill>
                        <a:srgbClr val="E5E7EB"/>
                      </a:solidFill>
                      <a:prstDash val="solid"/>
                    </a:lnB>
                  </a:tcPr>
                </a:tc>
              </a:tr>
              <a:tr h="457200">
                <a:tc>
                  <a:txBody>
                    <a:bodyPr/>
                    <a:lstStyle/>
                    <a:p>
                      <a:pPr marL="0" indent="0">
                        <a:buNone/>
                      </a:pPr>
                      <a:r>
                        <a:rPr sz="850">
                          <a:solidFill>
                            <a:srgbClr val="1F2937"/>
                          </a:solidFill>
                        </a:rPr>
                        <a:t>Enough readings check</a:t>
                      </a:r>
                      <a:endParaRPr sz="850"/>
                    </a:p>
                  </a:txBody>
                  <a:tcPr marL="63500" marR="63500" marT="25400" marB="25400" anchor="ctr">
                    <a:lnL w="9525" cmpd="sng">
                      <a:solidFill>
                        <a:srgbClr val="E5E7EB"/>
                      </a:solidFill>
                      <a:prstDash val="solid"/>
                    </a:lnL>
                    <a:lnR w="9525" cmpd="sng">
                      <a:solidFill>
                        <a:srgbClr val="E5E7EB"/>
                      </a:solidFill>
                      <a:prstDash val="solid"/>
                    </a:lnR>
                    <a:lnT w="9525" cmpd="sng">
                      <a:solidFill>
                        <a:srgbClr val="E5E7EB"/>
                      </a:solidFill>
                      <a:prstDash val="solid"/>
                    </a:lnT>
                    <a:lnB w="9525" cmpd="sng">
                      <a:solidFill>
                        <a:srgbClr val="E5E7EB"/>
                      </a:solidFill>
                      <a:prstDash val="solid"/>
                    </a:lnB>
                  </a:tcPr>
                </a:tc>
                <a:tc>
                  <a:txBody>
                    <a:bodyPr/>
                    <a:lstStyle/>
                    <a:p>
                      <a:pPr marL="0" indent="0">
                        <a:buNone/>
                      </a:pPr>
                      <a:r>
                        <a:rPr sz="850">
                          <a:solidFill>
                            <a:srgbClr val="1F2937"/>
                          </a:solidFill>
                        </a:rPr>
                        <a:t>A day needs enough valid readings to be shown as a value.</a:t>
                      </a:r>
                      <a:endParaRPr sz="850"/>
                    </a:p>
                  </a:txBody>
                  <a:tcPr marL="63500" marR="63500" marT="25400" marB="25400" anchor="ctr">
                    <a:lnL w="9525" cmpd="sng">
                      <a:solidFill>
                        <a:srgbClr val="E5E7EB"/>
                      </a:solidFill>
                      <a:prstDash val="solid"/>
                    </a:lnL>
                    <a:lnR w="9525" cmpd="sng">
                      <a:solidFill>
                        <a:srgbClr val="E5E7EB"/>
                      </a:solidFill>
                      <a:prstDash val="solid"/>
                    </a:lnR>
                    <a:lnT w="9525" cmpd="sng">
                      <a:solidFill>
                        <a:srgbClr val="E5E7EB"/>
                      </a:solidFill>
                      <a:prstDash val="solid"/>
                    </a:lnT>
                    <a:lnB w="9525" cmpd="sng">
                      <a:solidFill>
                        <a:srgbClr val="E5E7EB"/>
                      </a:solidFill>
                      <a:prstDash val="solid"/>
                    </a:lnB>
                  </a:tcPr>
                </a:tc>
                <a:tc>
                  <a:txBody>
                    <a:bodyPr/>
                    <a:lstStyle/>
                    <a:p>
                      <a:pPr marL="0" indent="0">
                        <a:buNone/>
                      </a:pPr>
                      <a:r>
                        <a:rPr sz="850">
                          <a:solidFill>
                            <a:srgbClr val="1F2937"/>
                          </a:solidFill>
                        </a:rPr>
                        <a:t>Threshold set in code (to be agreed).</a:t>
                      </a:r>
                      <a:endParaRPr sz="850"/>
                    </a:p>
                  </a:txBody>
                  <a:tcPr marL="63500" marR="63500" marT="25400" marB="25400" anchor="ctr">
                    <a:lnL w="9525" cmpd="sng">
                      <a:solidFill>
                        <a:srgbClr val="E5E7EB"/>
                      </a:solidFill>
                      <a:prstDash val="solid"/>
                    </a:lnL>
                    <a:lnR w="9525" cmpd="sng">
                      <a:solidFill>
                        <a:srgbClr val="E5E7EB"/>
                      </a:solidFill>
                      <a:prstDash val="solid"/>
                    </a:lnR>
                    <a:lnT w="9525" cmpd="sng">
                      <a:solidFill>
                        <a:srgbClr val="E5E7EB"/>
                      </a:solidFill>
                      <a:prstDash val="solid"/>
                    </a:lnT>
                    <a:lnB w="9525" cmpd="sng">
                      <a:solidFill>
                        <a:srgbClr val="E5E7EB"/>
                      </a:solidFill>
                      <a:prstDash val="solid"/>
                    </a:lnB>
                  </a:tcPr>
                </a:tc>
                <a:tc>
                  <a:txBody>
                    <a:bodyPr/>
                    <a:lstStyle/>
                    <a:p>
                      <a:pPr marL="0" indent="0">
                        <a:buNone/>
                      </a:pPr>
                      <a:r>
                        <a:rPr sz="850">
                          <a:solidFill>
                            <a:srgbClr val="1F2937"/>
                          </a:solidFill>
                        </a:rPr>
                        <a:t>DataFrame -&gt; pass / mark</a:t>
                      </a:r>
                      <a:endParaRPr sz="850"/>
                    </a:p>
                  </a:txBody>
                  <a:tcPr marL="63500" marR="63500" marT="25400" marB="25400" anchor="ctr">
                    <a:lnL w="9525" cmpd="sng">
                      <a:solidFill>
                        <a:srgbClr val="E5E7EB"/>
                      </a:solidFill>
                      <a:prstDash val="solid"/>
                    </a:lnL>
                    <a:lnR w="9525" cmpd="sng">
                      <a:solidFill>
                        <a:srgbClr val="E5E7EB"/>
                      </a:solidFill>
                      <a:prstDash val="solid"/>
                    </a:lnR>
                    <a:lnT w="9525" cmpd="sng">
                      <a:solidFill>
                        <a:srgbClr val="E5E7EB"/>
                      </a:solidFill>
                      <a:prstDash val="solid"/>
                    </a:lnT>
                    <a:lnB w="9525" cmpd="sng">
                      <a:solidFill>
                        <a:srgbClr val="E5E7EB"/>
                      </a:solidFill>
                      <a:prstDash val="solid"/>
                    </a:lnB>
                  </a:tcPr>
                </a:tc>
                <a:tc>
                  <a:txBody>
                    <a:bodyPr/>
                    <a:lstStyle/>
                    <a:p>
                      <a:pPr marL="0" indent="0">
                        <a:buNone/>
                      </a:pPr>
                      <a:r>
                        <a:rPr sz="850">
                          <a:solidFill>
                            <a:srgbClr val="1F2937"/>
                          </a:solidFill>
                        </a:rPr>
                        <a:t>7</a:t>
                      </a:r>
                      <a:endParaRPr sz="850"/>
                    </a:p>
                  </a:txBody>
                  <a:tcPr marL="63500" marR="63500" marT="25400" marB="25400" anchor="ctr">
                    <a:lnL w="9525" cmpd="sng">
                      <a:solidFill>
                        <a:srgbClr val="E5E7EB"/>
                      </a:solidFill>
                      <a:prstDash val="solid"/>
                    </a:lnL>
                    <a:lnR w="9525" cmpd="sng">
                      <a:solidFill>
                        <a:srgbClr val="E5E7EB"/>
                      </a:solidFill>
                      <a:prstDash val="solid"/>
                    </a:lnR>
                    <a:lnT w="9525" cmpd="sng">
                      <a:solidFill>
                        <a:srgbClr val="E5E7EB"/>
                      </a:solidFill>
                      <a:prstDash val="solid"/>
                    </a:lnT>
                    <a:lnB w="9525" cmpd="sng">
                      <a:solidFill>
                        <a:srgbClr val="E5E7EB"/>
                      </a:solidFill>
                      <a:prstDash val="solid"/>
                    </a:lnB>
                  </a:tcPr>
                </a:tc>
              </a:tr>
              <a:tr h="457200">
                <a:tc>
                  <a:txBody>
                    <a:bodyPr/>
                    <a:lstStyle/>
                    <a:p>
                      <a:pPr marL="0" indent="0">
                        <a:buNone/>
                      </a:pPr>
                      <a:r>
                        <a:rPr sz="850">
                          <a:solidFill>
                            <a:srgbClr val="1F2937"/>
                          </a:solidFill>
                        </a:rPr>
                        <a:t>Align by date</a:t>
                      </a:r>
                      <a:endParaRPr sz="850"/>
                    </a:p>
                  </a:txBody>
                  <a:tcPr marL="63500" marR="63500" marT="25400" marB="25400" anchor="ctr">
                    <a:lnL w="9525" cmpd="sng">
                      <a:solidFill>
                        <a:srgbClr val="E5E7EB"/>
                      </a:solidFill>
                      <a:prstDash val="solid"/>
                    </a:lnL>
                    <a:lnR w="9525" cmpd="sng">
                      <a:solidFill>
                        <a:srgbClr val="E5E7EB"/>
                      </a:solidFill>
                      <a:prstDash val="solid"/>
                    </a:lnR>
                    <a:lnT w="9525" cmpd="sng">
                      <a:solidFill>
                        <a:srgbClr val="E5E7EB"/>
                      </a:solidFill>
                      <a:prstDash val="solid"/>
                    </a:lnT>
                    <a:lnB w="9525" cmpd="sng">
                      <a:solidFill>
                        <a:srgbClr val="E5E7EB"/>
                      </a:solidFill>
                      <a:prstDash val="solid"/>
                    </a:lnB>
                  </a:tcPr>
                </a:tc>
                <a:tc>
                  <a:txBody>
                    <a:bodyPr/>
                    <a:lstStyle/>
                    <a:p>
                      <a:pPr marL="0" indent="0">
                        <a:buNone/>
                      </a:pPr>
                      <a:r>
                        <a:rPr sz="850">
                          <a:solidFill>
                            <a:srgbClr val="1F2937"/>
                          </a:solidFill>
                        </a:rPr>
                        <a:t>One time zone; a night belongs to the day you wake up.</a:t>
                      </a:r>
                      <a:endParaRPr sz="850"/>
                    </a:p>
                  </a:txBody>
                  <a:tcPr marL="63500" marR="63500" marT="25400" marB="25400" anchor="ctr">
                    <a:lnL w="9525" cmpd="sng">
                      <a:solidFill>
                        <a:srgbClr val="E5E7EB"/>
                      </a:solidFill>
                      <a:prstDash val="solid"/>
                    </a:lnL>
                    <a:lnR w="9525" cmpd="sng">
                      <a:solidFill>
                        <a:srgbClr val="E5E7EB"/>
                      </a:solidFill>
                      <a:prstDash val="solid"/>
                    </a:lnR>
                    <a:lnT w="9525" cmpd="sng">
                      <a:solidFill>
                        <a:srgbClr val="E5E7EB"/>
                      </a:solidFill>
                      <a:prstDash val="solid"/>
                    </a:lnT>
                    <a:lnB w="9525" cmpd="sng">
                      <a:solidFill>
                        <a:srgbClr val="E5E7EB"/>
                      </a:solidFill>
                      <a:prstDash val="solid"/>
                    </a:lnB>
                  </a:tcPr>
                </a:tc>
                <a:tc>
                  <a:txBody>
                    <a:bodyPr/>
                    <a:lstStyle/>
                    <a:p>
                      <a:pPr marL="0" indent="0">
                        <a:buNone/>
                      </a:pPr>
                      <a:r>
                        <a:rPr sz="850">
                          <a:solidFill>
                            <a:srgbClr val="1F2937"/>
                          </a:solidFill>
                        </a:rPr>
                        <a:t>Europe/Amsterdam.</a:t>
                      </a:r>
                      <a:endParaRPr sz="850"/>
                    </a:p>
                  </a:txBody>
                  <a:tcPr marL="63500" marR="63500" marT="25400" marB="25400" anchor="ctr">
                    <a:lnL w="9525" cmpd="sng">
                      <a:solidFill>
                        <a:srgbClr val="E5E7EB"/>
                      </a:solidFill>
                      <a:prstDash val="solid"/>
                    </a:lnL>
                    <a:lnR w="9525" cmpd="sng">
                      <a:solidFill>
                        <a:srgbClr val="E5E7EB"/>
                      </a:solidFill>
                      <a:prstDash val="solid"/>
                    </a:lnR>
                    <a:lnT w="9525" cmpd="sng">
                      <a:solidFill>
                        <a:srgbClr val="E5E7EB"/>
                      </a:solidFill>
                      <a:prstDash val="solid"/>
                    </a:lnT>
                    <a:lnB w="9525" cmpd="sng">
                      <a:solidFill>
                        <a:srgbClr val="E5E7EB"/>
                      </a:solidFill>
                      <a:prstDash val="solid"/>
                    </a:lnB>
                  </a:tcPr>
                </a:tc>
                <a:tc>
                  <a:txBody>
                    <a:bodyPr/>
                    <a:lstStyle/>
                    <a:p>
                      <a:pPr marL="0" indent="0">
                        <a:buNone/>
                      </a:pPr>
                      <a:r>
                        <a:rPr sz="850">
                          <a:solidFill>
                            <a:srgbClr val="1F2937"/>
                          </a:solidFill>
                        </a:rPr>
                        <a:t>Timestamps -&gt; dates</a:t>
                      </a:r>
                      <a:endParaRPr sz="850"/>
                    </a:p>
                  </a:txBody>
                  <a:tcPr marL="63500" marR="63500" marT="25400" marB="25400" anchor="ctr">
                    <a:lnL w="9525" cmpd="sng">
                      <a:solidFill>
                        <a:srgbClr val="E5E7EB"/>
                      </a:solidFill>
                      <a:prstDash val="solid"/>
                    </a:lnL>
                    <a:lnR w="9525" cmpd="sng">
                      <a:solidFill>
                        <a:srgbClr val="E5E7EB"/>
                      </a:solidFill>
                      <a:prstDash val="solid"/>
                    </a:lnR>
                    <a:lnT w="9525" cmpd="sng">
                      <a:solidFill>
                        <a:srgbClr val="E5E7EB"/>
                      </a:solidFill>
                      <a:prstDash val="solid"/>
                    </a:lnT>
                    <a:lnB w="9525" cmpd="sng">
                      <a:solidFill>
                        <a:srgbClr val="E5E7EB"/>
                      </a:solidFill>
                      <a:prstDash val="solid"/>
                    </a:lnB>
                  </a:tcPr>
                </a:tc>
                <a:tc>
                  <a:txBody>
                    <a:bodyPr/>
                    <a:lstStyle/>
                    <a:p>
                      <a:pPr marL="0" indent="0">
                        <a:buNone/>
                      </a:pPr>
                      <a:r>
                        <a:rPr sz="850">
                          <a:solidFill>
                            <a:srgbClr val="1F2937"/>
                          </a:solidFill>
                        </a:rPr>
                        <a:t>-</a:t>
                      </a:r>
                      <a:endParaRPr sz="850"/>
                    </a:p>
                  </a:txBody>
                  <a:tcPr marL="63500" marR="63500" marT="25400" marB="25400" anchor="ctr">
                    <a:lnL w="9525" cmpd="sng">
                      <a:solidFill>
                        <a:srgbClr val="E5E7EB"/>
                      </a:solidFill>
                      <a:prstDash val="solid"/>
                    </a:lnL>
                    <a:lnR w="9525" cmpd="sng">
                      <a:solidFill>
                        <a:srgbClr val="E5E7EB"/>
                      </a:solidFill>
                      <a:prstDash val="solid"/>
                    </a:lnR>
                    <a:lnT w="9525" cmpd="sng">
                      <a:solidFill>
                        <a:srgbClr val="E5E7EB"/>
                      </a:solidFill>
                      <a:prstDash val="solid"/>
                    </a:lnT>
                    <a:lnB w="9525" cmpd="sng">
                      <a:solidFill>
                        <a:srgbClr val="E5E7EB"/>
                      </a:solidFill>
                      <a:prstDash val="solid"/>
                    </a:lnB>
                  </a:tcPr>
                </a:tc>
              </a:tr>
              <a:tr h="457200">
                <a:tc>
                  <a:txBody>
                    <a:bodyPr/>
                    <a:lstStyle/>
                    <a:p>
                      <a:pPr marL="0" indent="0">
                        <a:buNone/>
                      </a:pPr>
                      <a:r>
                        <a:rPr sz="850">
                          <a:solidFill>
                            <a:srgbClr val="1F2937"/>
                          </a:solidFill>
                        </a:rPr>
                        <a:t>Sleep values</a:t>
                      </a:r>
                      <a:endParaRPr sz="850"/>
                    </a:p>
                  </a:txBody>
                  <a:tcPr marL="63500" marR="63500" marT="25400" marB="25400" anchor="ctr">
                    <a:lnL w="9525" cmpd="sng">
                      <a:solidFill>
                        <a:srgbClr val="E5E7EB"/>
                      </a:solidFill>
                      <a:prstDash val="solid"/>
                    </a:lnL>
                    <a:lnR w="9525" cmpd="sng">
                      <a:solidFill>
                        <a:srgbClr val="E5E7EB"/>
                      </a:solidFill>
                      <a:prstDash val="solid"/>
                    </a:lnR>
                    <a:lnT w="9525" cmpd="sng">
                      <a:solidFill>
                        <a:srgbClr val="E5E7EB"/>
                      </a:solidFill>
                      <a:prstDash val="solid"/>
                    </a:lnT>
                    <a:lnB w="9525" cmpd="sng">
                      <a:solidFill>
                        <a:srgbClr val="E5E7EB"/>
                      </a:solidFill>
                      <a:prstDash val="solid"/>
                    </a:lnB>
                  </a:tcPr>
                </a:tc>
                <a:tc>
                  <a:txBody>
                    <a:bodyPr/>
                    <a:lstStyle/>
                    <a:p>
                      <a:pPr marL="0" indent="0">
                        <a:buNone/>
                      </a:pPr>
                      <a:r>
                        <a:rPr sz="850">
                          <a:solidFill>
                            <a:srgbClr val="1F2937"/>
                          </a:solidFill>
                        </a:rPr>
                        <a:t>Duration, bed time, wake time, night awakenings.</a:t>
                      </a:r>
                      <a:endParaRPr sz="850"/>
                    </a:p>
                  </a:txBody>
                  <a:tcPr marL="63500" marR="63500" marT="25400" marB="25400" anchor="ctr">
                    <a:lnL w="9525" cmpd="sng">
                      <a:solidFill>
                        <a:srgbClr val="E5E7EB"/>
                      </a:solidFill>
                      <a:prstDash val="solid"/>
                    </a:lnL>
                    <a:lnR w="9525" cmpd="sng">
                      <a:solidFill>
                        <a:srgbClr val="E5E7EB"/>
                      </a:solidFill>
                      <a:prstDash val="solid"/>
                    </a:lnR>
                    <a:lnT w="9525" cmpd="sng">
                      <a:solidFill>
                        <a:srgbClr val="E5E7EB"/>
                      </a:solidFill>
                      <a:prstDash val="solid"/>
                    </a:lnT>
                    <a:lnB w="9525" cmpd="sng">
                      <a:solidFill>
                        <a:srgbClr val="E5E7EB"/>
                      </a:solidFill>
                      <a:prstDash val="solid"/>
                    </a:lnB>
                  </a:tcPr>
                </a:tc>
                <a:tc>
                  <a:txBody>
                    <a:bodyPr/>
                    <a:lstStyle/>
                    <a:p>
                      <a:pPr marL="0" indent="0">
                        <a:buNone/>
                      </a:pPr>
                      <a:r>
                        <a:rPr sz="850">
                          <a:solidFill>
                            <a:srgbClr val="1F2937"/>
                          </a:solidFill>
                        </a:rPr>
                        <a:t>Computed from the sleep log.</a:t>
                      </a:r>
                      <a:endParaRPr sz="850"/>
                    </a:p>
                  </a:txBody>
                  <a:tcPr marL="63500" marR="63500" marT="25400" marB="25400" anchor="ctr">
                    <a:lnL w="9525" cmpd="sng">
                      <a:solidFill>
                        <a:srgbClr val="E5E7EB"/>
                      </a:solidFill>
                      <a:prstDash val="solid"/>
                    </a:lnL>
                    <a:lnR w="9525" cmpd="sng">
                      <a:solidFill>
                        <a:srgbClr val="E5E7EB"/>
                      </a:solidFill>
                      <a:prstDash val="solid"/>
                    </a:lnR>
                    <a:lnT w="9525" cmpd="sng">
                      <a:solidFill>
                        <a:srgbClr val="E5E7EB"/>
                      </a:solidFill>
                      <a:prstDash val="solid"/>
                    </a:lnT>
                    <a:lnB w="9525" cmpd="sng">
                      <a:solidFill>
                        <a:srgbClr val="E5E7EB"/>
                      </a:solidFill>
                      <a:prstDash val="solid"/>
                    </a:lnB>
                  </a:tcPr>
                </a:tc>
                <a:tc>
                  <a:txBody>
                    <a:bodyPr/>
                    <a:lstStyle/>
                    <a:p>
                      <a:pPr marL="0" indent="0">
                        <a:buNone/>
                      </a:pPr>
                      <a:r>
                        <a:rPr sz="850">
                          <a:solidFill>
                            <a:srgbClr val="1F2937"/>
                          </a:solidFill>
                        </a:rPr>
                        <a:t>Merged table -&gt; values</a:t>
                      </a:r>
                      <a:endParaRPr sz="850"/>
                    </a:p>
                  </a:txBody>
                  <a:tcPr marL="63500" marR="63500" marT="25400" marB="25400" anchor="ctr">
                    <a:lnL w="9525" cmpd="sng">
                      <a:solidFill>
                        <a:srgbClr val="E5E7EB"/>
                      </a:solidFill>
                      <a:prstDash val="solid"/>
                    </a:lnL>
                    <a:lnR w="9525" cmpd="sng">
                      <a:solidFill>
                        <a:srgbClr val="E5E7EB"/>
                      </a:solidFill>
                      <a:prstDash val="solid"/>
                    </a:lnR>
                    <a:lnT w="9525" cmpd="sng">
                      <a:solidFill>
                        <a:srgbClr val="E5E7EB"/>
                      </a:solidFill>
                      <a:prstDash val="solid"/>
                    </a:lnT>
                    <a:lnB w="9525" cmpd="sng">
                      <a:solidFill>
                        <a:srgbClr val="E5E7EB"/>
                      </a:solidFill>
                      <a:prstDash val="solid"/>
                    </a:lnB>
                  </a:tcPr>
                </a:tc>
                <a:tc>
                  <a:txBody>
                    <a:bodyPr/>
                    <a:lstStyle/>
                    <a:p>
                      <a:pPr marL="0" indent="0">
                        <a:buNone/>
                      </a:pPr>
                      <a:r>
                        <a:rPr sz="850">
                          <a:solidFill>
                            <a:srgbClr val="1F2937"/>
                          </a:solidFill>
                        </a:rPr>
                        <a:t>7</a:t>
                      </a:r>
                      <a:endParaRPr sz="850"/>
                    </a:p>
                  </a:txBody>
                  <a:tcPr marL="63500" marR="63500" marT="25400" marB="25400" anchor="ctr">
                    <a:lnL w="9525" cmpd="sng">
                      <a:solidFill>
                        <a:srgbClr val="E5E7EB"/>
                      </a:solidFill>
                      <a:prstDash val="solid"/>
                    </a:lnL>
                    <a:lnR w="9525" cmpd="sng">
                      <a:solidFill>
                        <a:srgbClr val="E5E7EB"/>
                      </a:solidFill>
                      <a:prstDash val="solid"/>
                    </a:lnR>
                    <a:lnT w="9525" cmpd="sng">
                      <a:solidFill>
                        <a:srgbClr val="E5E7EB"/>
                      </a:solidFill>
                      <a:prstDash val="solid"/>
                    </a:lnT>
                    <a:lnB w="9525" cmpd="sng">
                      <a:solidFill>
                        <a:srgbClr val="E5E7EB"/>
                      </a:solidFill>
                      <a:prstDash val="solid"/>
                    </a:lnB>
                  </a:tcPr>
                </a:tc>
              </a:tr>
              <a:tr h="457200">
                <a:tc>
                  <a:txBody>
                    <a:bodyPr/>
                    <a:lstStyle/>
                    <a:p>
                      <a:pPr marL="0" indent="0">
                        <a:buNone/>
                      </a:pPr>
                      <a:r>
                        <a:rPr sz="850">
                          <a:solidFill>
                            <a:srgbClr val="1F2937"/>
                          </a:solidFill>
                        </a:rPr>
                        <a:t>Heart rate and steps</a:t>
                      </a:r>
                      <a:endParaRPr sz="850"/>
                    </a:p>
                  </a:txBody>
                  <a:tcPr marL="63500" marR="63500" marT="25400" marB="25400" anchor="ctr">
                    <a:lnL w="9525" cmpd="sng">
                      <a:solidFill>
                        <a:srgbClr val="E5E7EB"/>
                      </a:solidFill>
                      <a:prstDash val="solid"/>
                    </a:lnL>
                    <a:lnR w="9525" cmpd="sng">
                      <a:solidFill>
                        <a:srgbClr val="E5E7EB"/>
                      </a:solidFill>
                      <a:prstDash val="solid"/>
                    </a:lnR>
                    <a:lnT w="9525" cmpd="sng">
                      <a:solidFill>
                        <a:srgbClr val="E5E7EB"/>
                      </a:solidFill>
                      <a:prstDash val="solid"/>
                    </a:lnT>
                    <a:lnB w="9525" cmpd="sng">
                      <a:solidFill>
                        <a:srgbClr val="E5E7EB"/>
                      </a:solidFill>
                      <a:prstDash val="solid"/>
                    </a:lnB>
                  </a:tcPr>
                </a:tc>
                <a:tc>
                  <a:txBody>
                    <a:bodyPr/>
                    <a:lstStyle/>
                    <a:p>
                      <a:pPr marL="0" indent="0">
                        <a:buNone/>
                      </a:pPr>
                      <a:r>
                        <a:rPr sz="850">
                          <a:solidFill>
                            <a:srgbClr val="1F2937"/>
                          </a:solidFill>
                        </a:rPr>
                        <a:t>Daily steps and heart rate summaries, with valid sample counts.</a:t>
                      </a:r>
                      <a:endParaRPr sz="850"/>
                    </a:p>
                  </a:txBody>
                  <a:tcPr marL="63500" marR="63500" marT="25400" marB="25400" anchor="ctr">
                    <a:lnL w="9525" cmpd="sng">
                      <a:solidFill>
                        <a:srgbClr val="E5E7EB"/>
                      </a:solidFill>
                      <a:prstDash val="solid"/>
                    </a:lnL>
                    <a:lnR w="9525" cmpd="sng">
                      <a:solidFill>
                        <a:srgbClr val="E5E7EB"/>
                      </a:solidFill>
                      <a:prstDash val="solid"/>
                    </a:lnR>
                    <a:lnT w="9525" cmpd="sng">
                      <a:solidFill>
                        <a:srgbClr val="E5E7EB"/>
                      </a:solidFill>
                      <a:prstDash val="solid"/>
                    </a:lnT>
                    <a:lnB w="9525" cmpd="sng">
                      <a:solidFill>
                        <a:srgbClr val="E5E7EB"/>
                      </a:solidFill>
                      <a:prstDash val="solid"/>
                    </a:lnB>
                  </a:tcPr>
                </a:tc>
                <a:tc>
                  <a:txBody>
                    <a:bodyPr/>
                    <a:lstStyle/>
                    <a:p>
                      <a:pPr marL="0" indent="0">
                        <a:buNone/>
                      </a:pPr>
                      <a:r>
                        <a:rPr sz="850">
                          <a:solidFill>
                            <a:srgbClr val="1F2937"/>
                          </a:solidFill>
                        </a:rPr>
                        <a:t>From stored heart rate and activity records.</a:t>
                      </a:r>
                      <a:endParaRPr sz="850"/>
                    </a:p>
                  </a:txBody>
                  <a:tcPr marL="63500" marR="63500" marT="25400" marB="25400" anchor="ctr">
                    <a:lnL w="9525" cmpd="sng">
                      <a:solidFill>
                        <a:srgbClr val="E5E7EB"/>
                      </a:solidFill>
                      <a:prstDash val="solid"/>
                    </a:lnL>
                    <a:lnR w="9525" cmpd="sng">
                      <a:solidFill>
                        <a:srgbClr val="E5E7EB"/>
                      </a:solidFill>
                      <a:prstDash val="solid"/>
                    </a:lnR>
                    <a:lnT w="9525" cmpd="sng">
                      <a:solidFill>
                        <a:srgbClr val="E5E7EB"/>
                      </a:solidFill>
                      <a:prstDash val="solid"/>
                    </a:lnT>
                    <a:lnB w="9525" cmpd="sng">
                      <a:solidFill>
                        <a:srgbClr val="E5E7EB"/>
                      </a:solidFill>
                      <a:prstDash val="solid"/>
                    </a:lnB>
                  </a:tcPr>
                </a:tc>
                <a:tc>
                  <a:txBody>
                    <a:bodyPr/>
                    <a:lstStyle/>
                    <a:p>
                      <a:pPr marL="0" indent="0">
                        <a:buNone/>
                      </a:pPr>
                      <a:r>
                        <a:rPr sz="850">
                          <a:solidFill>
                            <a:srgbClr val="1F2937"/>
                          </a:solidFill>
                        </a:rPr>
                        <a:t>Merged table to daily values</a:t>
                      </a:r>
                      <a:endParaRPr sz="850"/>
                    </a:p>
                  </a:txBody>
                  <a:tcPr marL="63500" marR="63500" marT="25400" marB="25400" anchor="ctr">
                    <a:lnL w="9525" cmpd="sng">
                      <a:solidFill>
                        <a:srgbClr val="E5E7EB"/>
                      </a:solidFill>
                      <a:prstDash val="solid"/>
                    </a:lnL>
                    <a:lnR w="9525" cmpd="sng">
                      <a:solidFill>
                        <a:srgbClr val="E5E7EB"/>
                      </a:solidFill>
                      <a:prstDash val="solid"/>
                    </a:lnR>
                    <a:lnT w="9525" cmpd="sng">
                      <a:solidFill>
                        <a:srgbClr val="E5E7EB"/>
                      </a:solidFill>
                      <a:prstDash val="solid"/>
                    </a:lnT>
                    <a:lnB w="9525" cmpd="sng">
                      <a:solidFill>
                        <a:srgbClr val="E5E7EB"/>
                      </a:solidFill>
                      <a:prstDash val="solid"/>
                    </a:lnB>
                  </a:tcPr>
                </a:tc>
                <a:tc>
                  <a:txBody>
                    <a:bodyPr/>
                    <a:lstStyle/>
                    <a:p>
                      <a:pPr marL="0" indent="0">
                        <a:buNone/>
                      </a:pPr>
                      <a:r>
                        <a:rPr sz="850">
                          <a:solidFill>
                            <a:srgbClr val="1F2937"/>
                          </a:solidFill>
                        </a:rPr>
                        <a:t>-</a:t>
                      </a:r>
                      <a:endParaRPr sz="850"/>
                    </a:p>
                  </a:txBody>
                  <a:tcPr marL="63500" marR="63500" marT="25400" marB="25400" anchor="ctr">
                    <a:lnL w="9525" cmpd="sng">
                      <a:solidFill>
                        <a:srgbClr val="E5E7EB"/>
                      </a:solidFill>
                      <a:prstDash val="solid"/>
                    </a:lnL>
                    <a:lnR w="9525" cmpd="sng">
                      <a:solidFill>
                        <a:srgbClr val="E5E7EB"/>
                      </a:solidFill>
                      <a:prstDash val="solid"/>
                    </a:lnR>
                    <a:lnT w="9525" cmpd="sng">
                      <a:solidFill>
                        <a:srgbClr val="E5E7EB"/>
                      </a:solidFill>
                      <a:prstDash val="solid"/>
                    </a:lnT>
                    <a:lnB w="9525" cmpd="sng">
                      <a:solidFill>
                        <a:srgbClr val="E5E7EB"/>
                      </a:solidFill>
                      <a:prstDash val="solid"/>
                    </a:lnB>
                  </a:tcPr>
                </a:tc>
              </a:tr>
              <a:tr h="457200">
                <a:tc>
                  <a:txBody>
                    <a:bodyPr/>
                    <a:lstStyle/>
                    <a:p>
                      <a:pPr marL="0" indent="0">
                        <a:buNone/>
                      </a:pPr>
                      <a:r>
                        <a:rPr sz="850">
                          <a:solidFill>
                            <a:srgbClr val="1F2937"/>
                          </a:solidFill>
                        </a:rPr>
                        <a:t>Check-in values</a:t>
                      </a:r>
                      <a:endParaRPr sz="850"/>
                    </a:p>
                  </a:txBody>
                  <a:tcPr marL="63500" marR="63500" marT="25400" marB="25400" anchor="ctr">
                    <a:lnL w="9525" cmpd="sng">
                      <a:solidFill>
                        <a:srgbClr val="E5E7EB"/>
                      </a:solidFill>
                      <a:prstDash val="solid"/>
                    </a:lnL>
                    <a:lnR w="9525" cmpd="sng">
                      <a:solidFill>
                        <a:srgbClr val="E5E7EB"/>
                      </a:solidFill>
                      <a:prstDash val="solid"/>
                    </a:lnR>
                    <a:lnT w="9525" cmpd="sng">
                      <a:solidFill>
                        <a:srgbClr val="E5E7EB"/>
                      </a:solidFill>
                      <a:prstDash val="solid"/>
                    </a:lnT>
                    <a:lnB w="9525" cmpd="sng">
                      <a:solidFill>
                        <a:srgbClr val="E5E7EB"/>
                      </a:solidFill>
                      <a:prstDash val="solid"/>
                    </a:lnB>
                  </a:tcPr>
                </a:tc>
                <a:tc>
                  <a:txBody>
                    <a:bodyPr/>
                    <a:lstStyle/>
                    <a:p>
                      <a:pPr marL="0" indent="0">
                        <a:buNone/>
                      </a:pPr>
                      <a:r>
                        <a:rPr sz="850">
                          <a:solidFill>
                            <a:srgbClr val="1F2937"/>
                          </a:solidFill>
                        </a:rPr>
                        <a:t>Answers 1-5 per slot, with missing slots flagged.</a:t>
                      </a:r>
                      <a:endParaRPr sz="850"/>
                    </a:p>
                  </a:txBody>
                  <a:tcPr marL="63500" marR="63500" marT="25400" marB="25400" anchor="ctr">
                    <a:lnL w="9525" cmpd="sng">
                      <a:solidFill>
                        <a:srgbClr val="E5E7EB"/>
                      </a:solidFill>
                      <a:prstDash val="solid"/>
                    </a:lnL>
                    <a:lnR w="9525" cmpd="sng">
                      <a:solidFill>
                        <a:srgbClr val="E5E7EB"/>
                      </a:solidFill>
                      <a:prstDash val="solid"/>
                    </a:lnR>
                    <a:lnT w="9525" cmpd="sng">
                      <a:solidFill>
                        <a:srgbClr val="E5E7EB"/>
                      </a:solidFill>
                      <a:prstDash val="solid"/>
                    </a:lnT>
                    <a:lnB w="9525" cmpd="sng">
                      <a:solidFill>
                        <a:srgbClr val="E5E7EB"/>
                      </a:solidFill>
                      <a:prstDash val="solid"/>
                    </a:lnB>
                  </a:tcPr>
                </a:tc>
                <a:tc>
                  <a:txBody>
                    <a:bodyPr/>
                    <a:lstStyle/>
                    <a:p>
                      <a:pPr marL="0" indent="0">
                        <a:buNone/>
                      </a:pPr>
                      <a:r>
                        <a:rPr sz="850">
                          <a:solidFill>
                            <a:srgbClr val="1F2937"/>
                          </a:solidFill>
                        </a:rPr>
                        <a:t>From the form rows.</a:t>
                      </a:r>
                      <a:endParaRPr sz="850"/>
                    </a:p>
                  </a:txBody>
                  <a:tcPr marL="63500" marR="63500" marT="25400" marB="25400" anchor="ctr">
                    <a:lnL w="9525" cmpd="sng">
                      <a:solidFill>
                        <a:srgbClr val="E5E7EB"/>
                      </a:solidFill>
                      <a:prstDash val="solid"/>
                    </a:lnL>
                    <a:lnR w="9525" cmpd="sng">
                      <a:solidFill>
                        <a:srgbClr val="E5E7EB"/>
                      </a:solidFill>
                      <a:prstDash val="solid"/>
                    </a:lnR>
                    <a:lnT w="9525" cmpd="sng">
                      <a:solidFill>
                        <a:srgbClr val="E5E7EB"/>
                      </a:solidFill>
                      <a:prstDash val="solid"/>
                    </a:lnT>
                    <a:lnB w="9525" cmpd="sng">
                      <a:solidFill>
                        <a:srgbClr val="E5E7EB"/>
                      </a:solidFill>
                      <a:prstDash val="solid"/>
                    </a:lnB>
                  </a:tcPr>
                </a:tc>
                <a:tc>
                  <a:txBody>
                    <a:bodyPr/>
                    <a:lstStyle/>
                    <a:p>
                      <a:pPr marL="0" indent="0">
                        <a:buNone/>
                      </a:pPr>
                      <a:r>
                        <a:rPr sz="850">
                          <a:solidFill>
                            <a:srgbClr val="1F2937"/>
                          </a:solidFill>
                        </a:rPr>
                        <a:t>Merged table -&gt; values</a:t>
                      </a:r>
                      <a:endParaRPr sz="850"/>
                    </a:p>
                  </a:txBody>
                  <a:tcPr marL="63500" marR="63500" marT="25400" marB="25400" anchor="ctr">
                    <a:lnL w="9525" cmpd="sng">
                      <a:solidFill>
                        <a:srgbClr val="E5E7EB"/>
                      </a:solidFill>
                      <a:prstDash val="solid"/>
                    </a:lnL>
                    <a:lnR w="9525" cmpd="sng">
                      <a:solidFill>
                        <a:srgbClr val="E5E7EB"/>
                      </a:solidFill>
                      <a:prstDash val="solid"/>
                    </a:lnR>
                    <a:lnT w="9525" cmpd="sng">
                      <a:solidFill>
                        <a:srgbClr val="E5E7EB"/>
                      </a:solidFill>
                      <a:prstDash val="solid"/>
                    </a:lnT>
                    <a:lnB w="9525" cmpd="sng">
                      <a:solidFill>
                        <a:srgbClr val="E5E7EB"/>
                      </a:solidFill>
                      <a:prstDash val="solid"/>
                    </a:lnB>
                  </a:tcPr>
                </a:tc>
                <a:tc>
                  <a:txBody>
                    <a:bodyPr/>
                    <a:lstStyle/>
                    <a:p>
                      <a:pPr marL="0" indent="0">
                        <a:buNone/>
                      </a:pPr>
                      <a:r>
                        <a:rPr sz="850">
                          <a:solidFill>
                            <a:srgbClr val="1F2937"/>
                          </a:solidFill>
                        </a:rPr>
                        <a:t>1</a:t>
                      </a:r>
                      <a:endParaRPr sz="850"/>
                    </a:p>
                  </a:txBody>
                  <a:tcPr marL="63500" marR="63500" marT="25400" marB="25400" anchor="ctr">
                    <a:lnL w="9525" cmpd="sng">
                      <a:solidFill>
                        <a:srgbClr val="E5E7EB"/>
                      </a:solidFill>
                      <a:prstDash val="solid"/>
                    </a:lnL>
                    <a:lnR w="9525" cmpd="sng">
                      <a:solidFill>
                        <a:srgbClr val="E5E7EB"/>
                      </a:solidFill>
                      <a:prstDash val="solid"/>
                    </a:lnR>
                    <a:lnT w="9525" cmpd="sng">
                      <a:solidFill>
                        <a:srgbClr val="E5E7EB"/>
                      </a:solidFill>
                      <a:prstDash val="solid"/>
                    </a:lnT>
                    <a:lnB w="9525" cmpd="sng">
                      <a:solidFill>
                        <a:srgbClr val="E5E7EB"/>
                      </a:solidFill>
                      <a:prstDash val="solid"/>
                    </a:lnB>
                  </a:tcPr>
                </a:tc>
              </a:tr>
              <a:tr h="457200">
                <a:tc>
                  <a:txBody>
                    <a:bodyPr/>
                    <a:lstStyle/>
                    <a:p>
                      <a:pPr marL="0" indent="0">
                        <a:buNone/>
                      </a:pPr>
                      <a:r>
                        <a:rPr sz="850">
                          <a:solidFill>
                            <a:srgbClr val="1F2937"/>
                          </a:solidFill>
                        </a:rPr>
                        <a:t>Weekly figures</a:t>
                      </a:r>
                      <a:endParaRPr sz="850"/>
                    </a:p>
                  </a:txBody>
                  <a:tcPr marL="63500" marR="63500" marT="25400" marB="25400" anchor="ctr">
                    <a:lnL w="9525" cmpd="sng">
                      <a:solidFill>
                        <a:srgbClr val="E5E7EB"/>
                      </a:solidFill>
                      <a:prstDash val="solid"/>
                    </a:lnL>
                    <a:lnR w="9525" cmpd="sng">
                      <a:solidFill>
                        <a:srgbClr val="E5E7EB"/>
                      </a:solidFill>
                      <a:prstDash val="solid"/>
                    </a:lnR>
                    <a:lnT w="9525" cmpd="sng">
                      <a:solidFill>
                        <a:srgbClr val="E5E7EB"/>
                      </a:solidFill>
                      <a:prstDash val="solid"/>
                    </a:lnT>
                    <a:lnB w="9525" cmpd="sng">
                      <a:solidFill>
                        <a:srgbClr val="E5E7EB"/>
                      </a:solidFill>
                      <a:prstDash val="solid"/>
                    </a:lnB>
                  </a:tcPr>
                </a:tc>
                <a:tc>
                  <a:txBody>
                    <a:bodyPr/>
                    <a:lstStyle/>
                    <a:p>
                      <a:pPr marL="0" indent="0">
                        <a:buNone/>
                      </a:pPr>
                      <a:r>
                        <a:rPr sz="850">
                          <a:solidFill>
                            <a:srgbClr val="1F2937"/>
                          </a:solidFill>
                        </a:rPr>
                        <a:t>Averages, totals and days with data per week.</a:t>
                      </a:r>
                      <a:endParaRPr sz="850"/>
                    </a:p>
                  </a:txBody>
                  <a:tcPr marL="63500" marR="63500" marT="25400" marB="25400" anchor="ctr">
                    <a:lnL w="9525" cmpd="sng">
                      <a:solidFill>
                        <a:srgbClr val="E5E7EB"/>
                      </a:solidFill>
                      <a:prstDash val="solid"/>
                    </a:lnL>
                    <a:lnR w="9525" cmpd="sng">
                      <a:solidFill>
                        <a:srgbClr val="E5E7EB"/>
                      </a:solidFill>
                      <a:prstDash val="solid"/>
                    </a:lnR>
                    <a:lnT w="9525" cmpd="sng">
                      <a:solidFill>
                        <a:srgbClr val="E5E7EB"/>
                      </a:solidFill>
                      <a:prstDash val="solid"/>
                    </a:lnT>
                    <a:lnB w="9525" cmpd="sng">
                      <a:solidFill>
                        <a:srgbClr val="E5E7EB"/>
                      </a:solidFill>
                      <a:prstDash val="solid"/>
                    </a:lnB>
                  </a:tcPr>
                </a:tc>
                <a:tc>
                  <a:txBody>
                    <a:bodyPr/>
                    <a:lstStyle/>
                    <a:p>
                      <a:pPr marL="0" indent="0">
                        <a:buNone/>
                      </a:pPr>
                      <a:r>
                        <a:rPr sz="850">
                          <a:solidFill>
                            <a:srgbClr val="1F2937"/>
                          </a:solidFill>
                        </a:rPr>
                        <a:t>Monday to Sunday.</a:t>
                      </a:r>
                      <a:endParaRPr sz="850"/>
                    </a:p>
                  </a:txBody>
                  <a:tcPr marL="63500" marR="63500" marT="25400" marB="25400" anchor="ctr">
                    <a:lnL w="9525" cmpd="sng">
                      <a:solidFill>
                        <a:srgbClr val="E5E7EB"/>
                      </a:solidFill>
                      <a:prstDash val="solid"/>
                    </a:lnL>
                    <a:lnR w="9525" cmpd="sng">
                      <a:solidFill>
                        <a:srgbClr val="E5E7EB"/>
                      </a:solidFill>
                      <a:prstDash val="solid"/>
                    </a:lnR>
                    <a:lnT w="9525" cmpd="sng">
                      <a:solidFill>
                        <a:srgbClr val="E5E7EB"/>
                      </a:solidFill>
                      <a:prstDash val="solid"/>
                    </a:lnT>
                    <a:lnB w="9525" cmpd="sng">
                      <a:solidFill>
                        <a:srgbClr val="E5E7EB"/>
                      </a:solidFill>
                      <a:prstDash val="solid"/>
                    </a:lnB>
                  </a:tcPr>
                </a:tc>
                <a:tc>
                  <a:txBody>
                    <a:bodyPr/>
                    <a:lstStyle/>
                    <a:p>
                      <a:pPr marL="0" indent="0">
                        <a:buNone/>
                      </a:pPr>
                      <a:r>
                        <a:rPr sz="850">
                          <a:solidFill>
                            <a:srgbClr val="1F2937"/>
                          </a:solidFill>
                        </a:rPr>
                        <a:t>Daily values -&gt; weekly</a:t>
                      </a:r>
                      <a:endParaRPr sz="850"/>
                    </a:p>
                  </a:txBody>
                  <a:tcPr marL="63500" marR="63500" marT="25400" marB="25400" anchor="ctr">
                    <a:lnL w="9525" cmpd="sng">
                      <a:solidFill>
                        <a:srgbClr val="E5E7EB"/>
                      </a:solidFill>
                      <a:prstDash val="solid"/>
                    </a:lnL>
                    <a:lnR w="9525" cmpd="sng">
                      <a:solidFill>
                        <a:srgbClr val="E5E7EB"/>
                      </a:solidFill>
                      <a:prstDash val="solid"/>
                    </a:lnR>
                    <a:lnT w="9525" cmpd="sng">
                      <a:solidFill>
                        <a:srgbClr val="E5E7EB"/>
                      </a:solidFill>
                      <a:prstDash val="solid"/>
                    </a:lnT>
                    <a:lnB w="9525" cmpd="sng">
                      <a:solidFill>
                        <a:srgbClr val="E5E7EB"/>
                      </a:solidFill>
                      <a:prstDash val="solid"/>
                    </a:lnB>
                  </a:tcPr>
                </a:tc>
                <a:tc>
                  <a:txBody>
                    <a:bodyPr/>
                    <a:lstStyle/>
                    <a:p>
                      <a:pPr marL="0" indent="0">
                        <a:buNone/>
                      </a:pPr>
                      <a:r>
                        <a:rPr sz="850">
                          <a:solidFill>
                            <a:srgbClr val="1F2937"/>
                          </a:solidFill>
                        </a:rPr>
                        <a:t>-</a:t>
                      </a:r>
                      <a:endParaRPr sz="850"/>
                    </a:p>
                  </a:txBody>
                  <a:tcPr marL="63500" marR="63500" marT="25400" marB="25400" anchor="ctr">
                    <a:lnL w="9525" cmpd="sng">
                      <a:solidFill>
                        <a:srgbClr val="E5E7EB"/>
                      </a:solidFill>
                      <a:prstDash val="solid"/>
                    </a:lnL>
                    <a:lnR w="9525" cmpd="sng">
                      <a:solidFill>
                        <a:srgbClr val="E5E7EB"/>
                      </a:solidFill>
                      <a:prstDash val="solid"/>
                    </a:lnR>
                    <a:lnT w="9525" cmpd="sng">
                      <a:solidFill>
                        <a:srgbClr val="E5E7EB"/>
                      </a:solidFill>
                      <a:prstDash val="solid"/>
                    </a:lnT>
                    <a:lnB w="9525" cmpd="sng">
                      <a:solidFill>
                        <a:srgbClr val="E5E7EB"/>
                      </a:solidFill>
                      <a:prstDash val="solid"/>
                    </a:lnB>
                  </a:tcPr>
                </a:tc>
              </a:tr>
              <a:tr h="457200">
                <a:tc>
                  <a:txBody>
                    <a:bodyPr/>
                    <a:lstStyle/>
                    <a:p>
                      <a:pPr marL="0" indent="0">
                        <a:buNone/>
                      </a:pPr>
                      <a:r>
                        <a:rPr sz="850">
                          <a:solidFill>
                            <a:srgbClr val="1F2937"/>
                          </a:solidFill>
                        </a:rPr>
                        <a:t>Gap flags</a:t>
                      </a:r>
                      <a:endParaRPr sz="850"/>
                    </a:p>
                  </a:txBody>
                  <a:tcPr marL="63500" marR="63500" marT="25400" marB="25400" anchor="ctr">
                    <a:lnL w="9525" cmpd="sng">
                      <a:solidFill>
                        <a:srgbClr val="E5E7EB"/>
                      </a:solidFill>
                      <a:prstDash val="solid"/>
                    </a:lnL>
                    <a:lnR w="9525" cmpd="sng">
                      <a:solidFill>
                        <a:srgbClr val="E5E7EB"/>
                      </a:solidFill>
                      <a:prstDash val="solid"/>
                    </a:lnR>
                    <a:lnT w="9525" cmpd="sng">
                      <a:solidFill>
                        <a:srgbClr val="E5E7EB"/>
                      </a:solidFill>
                      <a:prstDash val="solid"/>
                    </a:lnT>
                    <a:lnB w="9525" cmpd="sng">
                      <a:solidFill>
                        <a:srgbClr val="E5E7EB"/>
                      </a:solidFill>
                      <a:prstDash val="solid"/>
                    </a:lnB>
                  </a:tcPr>
                </a:tc>
                <a:tc>
                  <a:txBody>
                    <a:bodyPr/>
                    <a:lstStyle/>
                    <a:p>
                      <a:pPr marL="0" indent="0">
                        <a:buNone/>
                      </a:pPr>
                      <a:r>
                        <a:rPr sz="850">
                          <a:solidFill>
                            <a:srgbClr val="1F2937"/>
                          </a:solidFill>
                        </a:rPr>
                        <a:t>Missing data is marked, never filled in or estimated.</a:t>
                      </a:r>
                      <a:endParaRPr sz="850"/>
                    </a:p>
                  </a:txBody>
                  <a:tcPr marL="63500" marR="63500" marT="25400" marB="25400" anchor="ctr">
                    <a:lnL w="9525" cmpd="sng">
                      <a:solidFill>
                        <a:srgbClr val="E5E7EB"/>
                      </a:solidFill>
                      <a:prstDash val="solid"/>
                    </a:lnL>
                    <a:lnR w="9525" cmpd="sng">
                      <a:solidFill>
                        <a:srgbClr val="E5E7EB"/>
                      </a:solidFill>
                      <a:prstDash val="solid"/>
                    </a:lnR>
                    <a:lnT w="9525" cmpd="sng">
                      <a:solidFill>
                        <a:srgbClr val="E5E7EB"/>
                      </a:solidFill>
                      <a:prstDash val="solid"/>
                    </a:lnT>
                    <a:lnB w="9525" cmpd="sng">
                      <a:solidFill>
                        <a:srgbClr val="E5E7EB"/>
                      </a:solidFill>
                      <a:prstDash val="solid"/>
                    </a:lnB>
                  </a:tcPr>
                </a:tc>
                <a:tc>
                  <a:txBody>
                    <a:bodyPr/>
                    <a:lstStyle/>
                    <a:p>
                      <a:pPr marL="0" indent="0">
                        <a:buNone/>
                      </a:pPr>
                      <a:r>
                        <a:rPr sz="850">
                          <a:solidFill>
                            <a:srgbClr val="1F2937"/>
                          </a:solidFill>
                        </a:rPr>
                        <a:t>gap = true in daily_values.</a:t>
                      </a:r>
                      <a:endParaRPr sz="850"/>
                    </a:p>
                  </a:txBody>
                  <a:tcPr marL="63500" marR="63500" marT="25400" marB="25400" anchor="ctr">
                    <a:lnL w="9525" cmpd="sng">
                      <a:solidFill>
                        <a:srgbClr val="E5E7EB"/>
                      </a:solidFill>
                      <a:prstDash val="solid"/>
                    </a:lnL>
                    <a:lnR w="9525" cmpd="sng">
                      <a:solidFill>
                        <a:srgbClr val="E5E7EB"/>
                      </a:solidFill>
                      <a:prstDash val="solid"/>
                    </a:lnR>
                    <a:lnT w="9525" cmpd="sng">
                      <a:solidFill>
                        <a:srgbClr val="E5E7EB"/>
                      </a:solidFill>
                      <a:prstDash val="solid"/>
                    </a:lnT>
                    <a:lnB w="9525" cmpd="sng">
                      <a:solidFill>
                        <a:srgbClr val="E5E7EB"/>
                      </a:solidFill>
                      <a:prstDash val="solid"/>
                    </a:lnB>
                  </a:tcPr>
                </a:tc>
                <a:tc>
                  <a:txBody>
                    <a:bodyPr/>
                    <a:lstStyle/>
                    <a:p>
                      <a:pPr marL="0" indent="0">
                        <a:buNone/>
                      </a:pPr>
                      <a:r>
                        <a:rPr sz="850">
                          <a:solidFill>
                            <a:srgbClr val="1F2937"/>
                          </a:solidFill>
                        </a:rPr>
                        <a:t>Values -&gt; flag</a:t>
                      </a:r>
                      <a:endParaRPr sz="850"/>
                    </a:p>
                  </a:txBody>
                  <a:tcPr marL="63500" marR="63500" marT="25400" marB="25400" anchor="ctr">
                    <a:lnL w="9525" cmpd="sng">
                      <a:solidFill>
                        <a:srgbClr val="E5E7EB"/>
                      </a:solidFill>
                      <a:prstDash val="solid"/>
                    </a:lnL>
                    <a:lnR w="9525" cmpd="sng">
                      <a:solidFill>
                        <a:srgbClr val="E5E7EB"/>
                      </a:solidFill>
                      <a:prstDash val="solid"/>
                    </a:lnR>
                    <a:lnT w="9525" cmpd="sng">
                      <a:solidFill>
                        <a:srgbClr val="E5E7EB"/>
                      </a:solidFill>
                      <a:prstDash val="solid"/>
                    </a:lnT>
                    <a:lnB w="9525" cmpd="sng">
                      <a:solidFill>
                        <a:srgbClr val="E5E7EB"/>
                      </a:solidFill>
                      <a:prstDash val="solid"/>
                    </a:lnB>
                  </a:tcPr>
                </a:tc>
                <a:tc>
                  <a:txBody>
                    <a:bodyPr/>
                    <a:lstStyle/>
                    <a:p>
                      <a:pPr marL="0" indent="0">
                        <a:buNone/>
                      </a:pPr>
                      <a:r>
                        <a:rPr sz="850">
                          <a:solidFill>
                            <a:srgbClr val="1F2937"/>
                          </a:solidFill>
                        </a:rPr>
                        <a:t>1, 7</a:t>
                      </a:r>
                      <a:endParaRPr sz="850"/>
                    </a:p>
                  </a:txBody>
                  <a:tcPr marL="63500" marR="63500" marT="25400" marB="25400" anchor="ctr">
                    <a:lnL w="9525" cmpd="sng">
                      <a:solidFill>
                        <a:srgbClr val="E5E7EB"/>
                      </a:solidFill>
                      <a:prstDash val="solid"/>
                    </a:lnL>
                    <a:lnR w="9525" cmpd="sng">
                      <a:solidFill>
                        <a:srgbClr val="E5E7EB"/>
                      </a:solidFill>
                      <a:prstDash val="solid"/>
                    </a:lnR>
                    <a:lnT w="9525" cmpd="sng">
                      <a:solidFill>
                        <a:srgbClr val="E5E7EB"/>
                      </a:solidFill>
                      <a:prstDash val="solid"/>
                    </a:lnT>
                    <a:lnB w="9525" cmpd="sng">
                      <a:solidFill>
                        <a:srgbClr val="E5E7EB"/>
                      </a:solidFill>
                      <a:prstDash val="solid"/>
                    </a:lnB>
                  </a:tcPr>
                </a:tc>
              </a:tr>
            </a:tbl>
          </a:graphicData>
        </a:graphic>
      </p:graphicFrame>
      <p:sp>
        <p:nvSpPr>
          <p:cNvPr id="4" name="Text 1">
            <a:extLst xmlns:a="http://schemas.openxmlformats.org/drawingml/2006/main">
              <a:ext uri="{FF2B5EF4-FFF2-40B4-BE49-F238E27FC236}">
                <a16:creationId xmlns:a16="http://schemas.microsoft.com/office/drawing/2014/main" id="{131CB17D-9852-4D45-B06B-DA1CE677458C}"/>
              </a:ext>
            </a:extLst>
          </p:cNvPr>
          <p:cNvSpPr>
            <a:spLocks xmlns:a="http://schemas.openxmlformats.org/drawingml/2006/main" noGrp="1"/>
          </p:cNvSpPr>
          <p:nvPr/>
        </p:nvSpPr>
        <p:spPr>
          <a:xfrm xmlns:a="http://schemas.openxmlformats.org/drawingml/2006/main">
            <a:off x="457200" y="6172200"/>
            <a:ext cx="11274552" cy="411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i="1">
                <a:solidFill>
                  <a:srgbClr val="6B7280"/>
                </a:solidFill>
              </a:rPr>
              <a:t>Processing only presents data. It does not assess sleep or give advice (those are out of scope for this project).</a:t>
            </a:r>
            <a:endParaRPr sz="1000"/>
          </a:p>
        </p:txBody>
      </p:sp>
    </p:spTree>
    <p:extLst>
      <p:ext uri="{BB962C8B-B14F-4D97-AF65-F5344CB8AC3E}">
        <p14:creationId xmlns:p14="http://schemas.microsoft.com/office/powerpoint/2010/main" val="1975869370"/>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D24C3C9-AF49-4DEC-901F-87BF1CB42465}"/>
              </a:ext>
            </a:extLst>
          </p:cNvPr>
          <p:cNvSpPr>
            <a:spLocks xmlns:a="http://schemas.openxmlformats.org/drawingml/2006/main" noGrp="1"/>
          </p:cNvSpPr>
          <p:nvPr/>
        </p:nvSpPr>
        <p:spPr>
          <a:xfrm xmlns:a="http://schemas.openxmlformats.org/drawingml/2006/main">
            <a:off x="457200" y="228600"/>
            <a:ext cx="11274552"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200" b="1">
                <a:solidFill>
                  <a:srgbClr val="1F2937"/>
                </a:solidFill>
              </a:rPr>
              <a:t>2c Processing: data flows and errors</a:t>
            </a:r>
            <a:endParaRPr sz="2200"/>
          </a:p>
        </p:txBody>
      </p:sp>
      <p:graphicFrame>
        <p:nvGraphicFramePr>
          <p:cNvPr id="4" name="Table 0">
            <a:extLst xmlns:a="http://schemas.openxmlformats.org/drawingml/2006/main">
              <a:ext uri="{FF2B5EF4-FFF2-40B4-BE49-F238E27FC236}">
                <a16:creationId xmlns:a16="http://schemas.microsoft.com/office/drawing/2014/main" id="{2092EDEB-B4FB-4791-92DB-D9144BEF927E}"/>
              </a:ext>
            </a:extLst>
          </p:cNvPr>
          <p:cNvGraphicFramePr/>
          <p:nvPr/>
        </p:nvGraphicFramePr>
        <p:xfrm>
          <a:off xmlns:a="http://schemas.openxmlformats.org/drawingml/2006/main" x="365760" y="822960"/>
          <a:ext xmlns:a="http://schemas.openxmlformats.org/drawingml/2006/main" cx="11430000" cy="914400"/>
        </p:xfrm>
        <a:graphic xmlns:a="http://schemas.openxmlformats.org/drawingml/2006/main">
          <a:graphicData uri="http://schemas.openxmlformats.org/drawingml/2006/table">
            <a:tbl>
              <a:tblPr/>
              <a:tblGrid>
                <a:gridCol w="2926080"/>
                <a:gridCol w="2743200"/>
                <a:gridCol w="5760720"/>
              </a:tblGrid>
              <a:tr h="329184">
                <a:tc>
                  <a:txBody>
                    <a:bodyPr/>
                    <a:lstStyle/>
                    <a:p>
                      <a:pPr marL="0" indent="0">
                        <a:buNone/>
                      </a:pPr>
                      <a:r>
                        <a:rPr sz="850" b="1">
                          <a:solidFill>
                            <a:srgbClr val="FFFFFF"/>
                          </a:solidFill>
                        </a:rPr>
                        <a:t>From -&gt; to</a:t>
                      </a:r>
                      <a:endParaRPr sz="850"/>
                    </a:p>
                  </a:txBody>
                  <a:tcPr marL="63500" marR="63500" marT="25400" marB="25400" anchor="ctr">
                    <a:lnL w="9525" cmpd="sng">
                      <a:solidFill>
                        <a:srgbClr val="E5E7EB"/>
                      </a:solidFill>
                      <a:prstDash val="solid"/>
                    </a:lnL>
                    <a:lnR w="9525" cmpd="sng">
                      <a:solidFill>
                        <a:srgbClr val="E5E7EB"/>
                      </a:solidFill>
                      <a:prstDash val="solid"/>
                    </a:lnR>
                    <a:lnT w="9525" cmpd="sng">
                      <a:solidFill>
                        <a:srgbClr val="E5E7EB"/>
                      </a:solidFill>
                      <a:prstDash val="solid"/>
                    </a:lnT>
                    <a:lnB w="9525" cmpd="sng">
                      <a:solidFill>
                        <a:srgbClr val="E5E7EB"/>
                      </a:solidFill>
                      <a:prstDash val="solid"/>
                    </a:lnB>
                    <a:solidFill>
                      <a:srgbClr val="374151"/>
                    </a:solidFill>
                  </a:tcPr>
                </a:tc>
                <a:tc>
                  <a:txBody>
                    <a:bodyPr/>
                    <a:lstStyle/>
                    <a:p>
                      <a:pPr marL="0" indent="0">
                        <a:buNone/>
                      </a:pPr>
                      <a:r>
                        <a:rPr sz="850" b="1">
                          <a:solidFill>
                            <a:srgbClr val="FFFFFF"/>
                          </a:solidFill>
                        </a:rPr>
                        <a:t>Format</a:t>
                      </a:r>
                      <a:endParaRPr sz="850"/>
                    </a:p>
                  </a:txBody>
                  <a:tcPr marL="63500" marR="63500" marT="25400" marB="25400" anchor="ctr">
                    <a:lnL w="9525" cmpd="sng">
                      <a:solidFill>
                        <a:srgbClr val="E5E7EB"/>
                      </a:solidFill>
                      <a:prstDash val="solid"/>
                    </a:lnL>
                    <a:lnR w="9525" cmpd="sng">
                      <a:solidFill>
                        <a:srgbClr val="E5E7EB"/>
                      </a:solidFill>
                      <a:prstDash val="solid"/>
                    </a:lnR>
                    <a:lnT w="9525" cmpd="sng">
                      <a:solidFill>
                        <a:srgbClr val="E5E7EB"/>
                      </a:solidFill>
                      <a:prstDash val="solid"/>
                    </a:lnT>
                    <a:lnB w="9525" cmpd="sng">
                      <a:solidFill>
                        <a:srgbClr val="E5E7EB"/>
                      </a:solidFill>
                      <a:prstDash val="solid"/>
                    </a:lnB>
                    <a:solidFill>
                      <a:srgbClr val="374151"/>
                    </a:solidFill>
                  </a:tcPr>
                </a:tc>
                <a:tc>
                  <a:txBody>
                    <a:bodyPr/>
                    <a:lstStyle/>
                    <a:p>
                      <a:pPr marL="0" indent="0">
                        <a:buNone/>
                      </a:pPr>
                      <a:r>
                        <a:rPr sz="850" b="1">
                          <a:solidFill>
                            <a:srgbClr val="FFFFFF"/>
                          </a:solidFill>
                        </a:rPr>
                        <a:t>Example</a:t>
                      </a:r>
                      <a:endParaRPr sz="850"/>
                    </a:p>
                  </a:txBody>
                  <a:tcPr marL="63500" marR="63500" marT="25400" marB="25400" anchor="ctr">
                    <a:lnL w="9525" cmpd="sng">
                      <a:solidFill>
                        <a:srgbClr val="E5E7EB"/>
                      </a:solidFill>
                      <a:prstDash val="solid"/>
                    </a:lnL>
                    <a:lnR w="9525" cmpd="sng">
                      <a:solidFill>
                        <a:srgbClr val="E5E7EB"/>
                      </a:solidFill>
                      <a:prstDash val="solid"/>
                    </a:lnR>
                    <a:lnT w="9525" cmpd="sng">
                      <a:solidFill>
                        <a:srgbClr val="E5E7EB"/>
                      </a:solidFill>
                      <a:prstDash val="solid"/>
                    </a:lnT>
                    <a:lnB w="9525" cmpd="sng">
                      <a:solidFill>
                        <a:srgbClr val="E5E7EB"/>
                      </a:solidFill>
                      <a:prstDash val="solid"/>
                    </a:lnB>
                    <a:solidFill>
                      <a:srgbClr val="374151"/>
                    </a:solidFill>
                  </a:tcPr>
                </a:tc>
              </a:tr>
              <a:tr h="329184">
                <a:tc>
                  <a:txBody>
                    <a:bodyPr/>
                    <a:lstStyle/>
                    <a:p>
                      <a:pPr marL="0" indent="0">
                        <a:buNone/>
                      </a:pPr>
                      <a:r>
                        <a:rPr sz="850">
                          <a:solidFill>
                            <a:srgbClr val="1F2937"/>
                          </a:solidFill>
                        </a:rPr>
                        <a:t>Database -&gt; Processing</a:t>
                      </a:r>
                      <a:endParaRPr sz="850"/>
                    </a:p>
                  </a:txBody>
                  <a:tcPr marL="63500" marR="63500" marT="25400" marB="25400" anchor="ctr">
                    <a:lnL w="9525" cmpd="sng">
                      <a:solidFill>
                        <a:srgbClr val="E5E7EB"/>
                      </a:solidFill>
                      <a:prstDash val="solid"/>
                    </a:lnL>
                    <a:lnR w="9525" cmpd="sng">
                      <a:solidFill>
                        <a:srgbClr val="E5E7EB"/>
                      </a:solidFill>
                      <a:prstDash val="solid"/>
                    </a:lnR>
                    <a:lnT w="9525" cmpd="sng">
                      <a:solidFill>
                        <a:srgbClr val="E5E7EB"/>
                      </a:solidFill>
                      <a:prstDash val="solid"/>
                    </a:lnT>
                    <a:lnB w="9525" cmpd="sng">
                      <a:solidFill>
                        <a:srgbClr val="E5E7EB"/>
                      </a:solidFill>
                      <a:prstDash val="solid"/>
                    </a:lnB>
                  </a:tcPr>
                </a:tc>
                <a:tc>
                  <a:txBody>
                    <a:bodyPr/>
                    <a:lstStyle/>
                    <a:p>
                      <a:pPr marL="0" indent="0">
                        <a:buNone/>
                      </a:pPr>
                      <a:r>
                        <a:rPr sz="850">
                          <a:solidFill>
                            <a:srgbClr val="1F2937"/>
                          </a:solidFill>
                        </a:rPr>
                        <a:t>SQL rows -&gt; DataFrame</a:t>
                      </a:r>
                      <a:endParaRPr sz="850"/>
                    </a:p>
                  </a:txBody>
                  <a:tcPr marL="63500" marR="63500" marT="25400" marB="25400" anchor="ctr">
                    <a:lnL w="9525" cmpd="sng">
                      <a:solidFill>
                        <a:srgbClr val="E5E7EB"/>
                      </a:solidFill>
                      <a:prstDash val="solid"/>
                    </a:lnL>
                    <a:lnR w="9525" cmpd="sng">
                      <a:solidFill>
                        <a:srgbClr val="E5E7EB"/>
                      </a:solidFill>
                      <a:prstDash val="solid"/>
                    </a:lnR>
                    <a:lnT w="9525" cmpd="sng">
                      <a:solidFill>
                        <a:srgbClr val="E5E7EB"/>
                      </a:solidFill>
                      <a:prstDash val="solid"/>
                    </a:lnT>
                    <a:lnB w="9525" cmpd="sng">
                      <a:solidFill>
                        <a:srgbClr val="E5E7EB"/>
                      </a:solidFill>
                      <a:prstDash val="solid"/>
                    </a:lnB>
                  </a:tcPr>
                </a:tc>
                <a:tc>
                  <a:txBody>
                    <a:bodyPr/>
                    <a:lstStyle/>
                    <a:p>
                      <a:pPr marL="0" indent="0">
                        <a:buNone/>
                      </a:pPr>
                      <a:r>
                        <a:rPr sz="850">
                          <a:solidFill>
                            <a:srgbClr val="1F2937"/>
                          </a:solidFill>
                        </a:rPr>
                        <a:t>SELECT date, metric, value FROM raw_readings ...</a:t>
                      </a:r>
                      <a:endParaRPr sz="850"/>
                    </a:p>
                  </a:txBody>
                  <a:tcPr marL="63500" marR="63500" marT="25400" marB="25400" anchor="ctr">
                    <a:lnL w="9525" cmpd="sng">
                      <a:solidFill>
                        <a:srgbClr val="E5E7EB"/>
                      </a:solidFill>
                      <a:prstDash val="solid"/>
                    </a:lnL>
                    <a:lnR w="9525" cmpd="sng">
                      <a:solidFill>
                        <a:srgbClr val="E5E7EB"/>
                      </a:solidFill>
                      <a:prstDash val="solid"/>
                    </a:lnR>
                    <a:lnT w="9525" cmpd="sng">
                      <a:solidFill>
                        <a:srgbClr val="E5E7EB"/>
                      </a:solidFill>
                      <a:prstDash val="solid"/>
                    </a:lnT>
                    <a:lnB w="9525" cmpd="sng">
                      <a:solidFill>
                        <a:srgbClr val="E5E7EB"/>
                      </a:solidFill>
                      <a:prstDash val="solid"/>
                    </a:lnB>
                  </a:tcPr>
                </a:tc>
              </a:tr>
              <a:tr h="329184">
                <a:tc>
                  <a:txBody>
                    <a:bodyPr/>
                    <a:lstStyle/>
                    <a:p>
                      <a:pPr marL="0" indent="0">
                        <a:buNone/>
                      </a:pPr>
                      <a:r>
                        <a:rPr sz="850">
                          <a:solidFill>
                            <a:srgbClr val="1F2937"/>
                          </a:solidFill>
                        </a:rPr>
                        <a:t>Processing (internal)</a:t>
                      </a:r>
                      <a:endParaRPr sz="850"/>
                    </a:p>
                  </a:txBody>
                  <a:tcPr marL="63500" marR="63500" marT="25400" marB="25400" anchor="ctr">
                    <a:lnL w="9525" cmpd="sng">
                      <a:solidFill>
                        <a:srgbClr val="E5E7EB"/>
                      </a:solidFill>
                      <a:prstDash val="solid"/>
                    </a:lnL>
                    <a:lnR w="9525" cmpd="sng">
                      <a:solidFill>
                        <a:srgbClr val="E5E7EB"/>
                      </a:solidFill>
                      <a:prstDash val="solid"/>
                    </a:lnR>
                    <a:lnT w="9525" cmpd="sng">
                      <a:solidFill>
                        <a:srgbClr val="E5E7EB"/>
                      </a:solidFill>
                      <a:prstDash val="solid"/>
                    </a:lnT>
                    <a:lnB w="9525" cmpd="sng">
                      <a:solidFill>
                        <a:srgbClr val="E5E7EB"/>
                      </a:solidFill>
                      <a:prstDash val="solid"/>
                    </a:lnB>
                  </a:tcPr>
                </a:tc>
                <a:tc>
                  <a:txBody>
                    <a:bodyPr/>
                    <a:lstStyle/>
                    <a:p>
                      <a:pPr marL="0" indent="0">
                        <a:buNone/>
                      </a:pPr>
                      <a:r>
                        <a:rPr sz="850">
                          <a:solidFill>
                            <a:srgbClr val="1F2937"/>
                          </a:solidFill>
                        </a:rPr>
                        <a:t>pandas tables</a:t>
                      </a:r>
                      <a:endParaRPr sz="850"/>
                    </a:p>
                  </a:txBody>
                  <a:tcPr marL="63500" marR="63500" marT="25400" marB="25400" anchor="ctr">
                    <a:lnL w="9525" cmpd="sng">
                      <a:solidFill>
                        <a:srgbClr val="E5E7EB"/>
                      </a:solidFill>
                      <a:prstDash val="solid"/>
                    </a:lnL>
                    <a:lnR w="9525" cmpd="sng">
                      <a:solidFill>
                        <a:srgbClr val="E5E7EB"/>
                      </a:solidFill>
                      <a:prstDash val="solid"/>
                    </a:lnR>
                    <a:lnT w="9525" cmpd="sng">
                      <a:solidFill>
                        <a:srgbClr val="E5E7EB"/>
                      </a:solidFill>
                      <a:prstDash val="solid"/>
                    </a:lnT>
                    <a:lnB w="9525" cmpd="sng">
                      <a:solidFill>
                        <a:srgbClr val="E5E7EB"/>
                      </a:solidFill>
                      <a:prstDash val="solid"/>
                    </a:lnB>
                  </a:tcPr>
                </a:tc>
                <a:tc>
                  <a:txBody>
                    <a:bodyPr/>
                    <a:lstStyle/>
                    <a:p>
                      <a:pPr marL="0" indent="0">
                        <a:buNone/>
                      </a:pPr>
                      <a:r>
                        <a:rPr sz="850">
                          <a:solidFill>
                            <a:srgbClr val="1F2937"/>
                          </a:solidFill>
                        </a:rPr>
                        <a:t>merged: date x metric, one row per day</a:t>
                      </a:r>
                      <a:endParaRPr sz="850"/>
                    </a:p>
                  </a:txBody>
                  <a:tcPr marL="63500" marR="63500" marT="25400" marB="25400" anchor="ctr">
                    <a:lnL w="9525" cmpd="sng">
                      <a:solidFill>
                        <a:srgbClr val="E5E7EB"/>
                      </a:solidFill>
                      <a:prstDash val="solid"/>
                    </a:lnL>
                    <a:lnR w="9525" cmpd="sng">
                      <a:solidFill>
                        <a:srgbClr val="E5E7EB"/>
                      </a:solidFill>
                      <a:prstDash val="solid"/>
                    </a:lnR>
                    <a:lnT w="9525" cmpd="sng">
                      <a:solidFill>
                        <a:srgbClr val="E5E7EB"/>
                      </a:solidFill>
                      <a:prstDash val="solid"/>
                    </a:lnT>
                    <a:lnB w="9525" cmpd="sng">
                      <a:solidFill>
                        <a:srgbClr val="E5E7EB"/>
                      </a:solidFill>
                      <a:prstDash val="solid"/>
                    </a:lnB>
                  </a:tcPr>
                </a:tc>
              </a:tr>
              <a:tr h="329184">
                <a:tc>
                  <a:txBody>
                    <a:bodyPr/>
                    <a:lstStyle/>
                    <a:p>
                      <a:pPr marL="0" indent="0">
                        <a:buNone/>
                      </a:pPr>
                      <a:r>
                        <a:rPr sz="850">
                          <a:solidFill>
                            <a:srgbClr val="1F2937"/>
                          </a:solidFill>
                        </a:rPr>
                        <a:t>Processing -&gt; Database</a:t>
                      </a:r>
                      <a:endParaRPr sz="850"/>
                    </a:p>
                  </a:txBody>
                  <a:tcPr marL="63500" marR="63500" marT="25400" marB="25400" anchor="ctr">
                    <a:lnL w="9525" cmpd="sng">
                      <a:solidFill>
                        <a:srgbClr val="E5E7EB"/>
                      </a:solidFill>
                      <a:prstDash val="solid"/>
                    </a:lnL>
                    <a:lnR w="9525" cmpd="sng">
                      <a:solidFill>
                        <a:srgbClr val="E5E7EB"/>
                      </a:solidFill>
                      <a:prstDash val="solid"/>
                    </a:lnR>
                    <a:lnT w="9525" cmpd="sng">
                      <a:solidFill>
                        <a:srgbClr val="E5E7EB"/>
                      </a:solidFill>
                      <a:prstDash val="solid"/>
                    </a:lnT>
                    <a:lnB w="9525" cmpd="sng">
                      <a:solidFill>
                        <a:srgbClr val="E5E7EB"/>
                      </a:solidFill>
                      <a:prstDash val="solid"/>
                    </a:lnB>
                  </a:tcPr>
                </a:tc>
                <a:tc>
                  <a:txBody>
                    <a:bodyPr/>
                    <a:lstStyle/>
                    <a:p>
                      <a:pPr marL="0" indent="0">
                        <a:buNone/>
                      </a:pPr>
                      <a:r>
                        <a:rPr sz="850">
                          <a:solidFill>
                            <a:srgbClr val="1F2937"/>
                          </a:solidFill>
                        </a:rPr>
                        <a:t>SQL upsert</a:t>
                      </a:r>
                      <a:endParaRPr sz="850"/>
                    </a:p>
                  </a:txBody>
                  <a:tcPr marL="63500" marR="63500" marT="25400" marB="25400" anchor="ctr">
                    <a:lnL w="9525" cmpd="sng">
                      <a:solidFill>
                        <a:srgbClr val="E5E7EB"/>
                      </a:solidFill>
                      <a:prstDash val="solid"/>
                    </a:lnL>
                    <a:lnR w="9525" cmpd="sng">
                      <a:solidFill>
                        <a:srgbClr val="E5E7EB"/>
                      </a:solidFill>
                      <a:prstDash val="solid"/>
                    </a:lnR>
                    <a:lnT w="9525" cmpd="sng">
                      <a:solidFill>
                        <a:srgbClr val="E5E7EB"/>
                      </a:solidFill>
                      <a:prstDash val="solid"/>
                    </a:lnT>
                    <a:lnB w="9525" cmpd="sng">
                      <a:solidFill>
                        <a:srgbClr val="E5E7EB"/>
                      </a:solidFill>
                      <a:prstDash val="solid"/>
                    </a:lnB>
                  </a:tcPr>
                </a:tc>
                <a:tc>
                  <a:txBody>
                    <a:bodyPr/>
                    <a:lstStyle/>
                    <a:p>
                      <a:pPr marL="0" indent="0">
                        <a:buNone/>
                      </a:pPr>
                      <a:r>
                        <a:rPr sz="850">
                          <a:solidFill>
                            <a:srgbClr val="1F2937"/>
                          </a:solidFill>
                        </a:rPr>
                        <a:t>INSERT INTO daily_values (date, metric, value, gap) ...</a:t>
                      </a:r>
                      <a:endParaRPr sz="850"/>
                    </a:p>
                  </a:txBody>
                  <a:tcPr marL="63500" marR="63500" marT="25400" marB="25400" anchor="ctr">
                    <a:lnL w="9525" cmpd="sng">
                      <a:solidFill>
                        <a:srgbClr val="E5E7EB"/>
                      </a:solidFill>
                      <a:prstDash val="solid"/>
                    </a:lnL>
                    <a:lnR w="9525" cmpd="sng">
                      <a:solidFill>
                        <a:srgbClr val="E5E7EB"/>
                      </a:solidFill>
                      <a:prstDash val="solid"/>
                    </a:lnR>
                    <a:lnT w="9525" cmpd="sng">
                      <a:solidFill>
                        <a:srgbClr val="E5E7EB"/>
                      </a:solidFill>
                      <a:prstDash val="solid"/>
                    </a:lnT>
                    <a:lnB w="9525" cmpd="sng">
                      <a:solidFill>
                        <a:srgbClr val="E5E7EB"/>
                      </a:solidFill>
                      <a:prstDash val="solid"/>
                    </a:lnB>
                  </a:tcPr>
                </a:tc>
              </a:tr>
            </a:tbl>
          </a:graphicData>
        </a:graphic>
      </p:graphicFrame>
      <p:graphicFrame>
        <p:nvGraphicFramePr>
          <p:cNvPr id="7" name="Table 1">
            <a:extLst xmlns:a="http://schemas.openxmlformats.org/drawingml/2006/main">
              <a:ext uri="{FF2B5EF4-FFF2-40B4-BE49-F238E27FC236}">
                <a16:creationId xmlns:a16="http://schemas.microsoft.com/office/drawing/2014/main" id="{438E3F0F-64D0-4BB2-899A-058BA0191192}"/>
              </a:ext>
            </a:extLst>
          </p:cNvPr>
          <p:cNvGraphicFramePr/>
          <p:nvPr/>
        </p:nvGraphicFramePr>
        <p:xfrm>
          <a:off xmlns:a="http://schemas.openxmlformats.org/drawingml/2006/main" x="365760" y="2459736"/>
          <a:ext xmlns:a="http://schemas.openxmlformats.org/drawingml/2006/main" cx="11430000" cy="914400"/>
        </p:xfrm>
        <a:graphic xmlns:a="http://schemas.openxmlformats.org/drawingml/2006/main">
          <a:graphicData uri="http://schemas.openxmlformats.org/drawingml/2006/table">
            <a:tbl>
              <a:tblPr/>
              <a:tblGrid>
                <a:gridCol w="457200"/>
                <a:gridCol w="2560320"/>
                <a:gridCol w="3657600"/>
                <a:gridCol w="4754880"/>
              </a:tblGrid>
              <a:tr h="365760">
                <a:tc>
                  <a:txBody>
                    <a:bodyPr/>
                    <a:lstStyle/>
                    <a:p>
                      <a:pPr marL="0" indent="0">
                        <a:buNone/>
                      </a:pPr>
                      <a:r>
                        <a:rPr sz="850" b="1">
                          <a:solidFill>
                            <a:srgbClr val="FFFFFF"/>
                          </a:solidFill>
                        </a:rPr>
                        <a:t>#</a:t>
                      </a:r>
                      <a:endParaRPr sz="850"/>
                    </a:p>
                  </a:txBody>
                  <a:tcPr marL="63500" marR="63500" marT="25400" marB="25400" anchor="ctr">
                    <a:lnL w="9525" cmpd="sng">
                      <a:solidFill>
                        <a:srgbClr val="E5E7EB"/>
                      </a:solidFill>
                      <a:prstDash val="solid"/>
                    </a:lnL>
                    <a:lnR w="9525" cmpd="sng">
                      <a:solidFill>
                        <a:srgbClr val="E5E7EB"/>
                      </a:solidFill>
                      <a:prstDash val="solid"/>
                    </a:lnR>
                    <a:lnT w="9525" cmpd="sng">
                      <a:solidFill>
                        <a:srgbClr val="E5E7EB"/>
                      </a:solidFill>
                      <a:prstDash val="solid"/>
                    </a:lnT>
                    <a:lnB w="9525" cmpd="sng">
                      <a:solidFill>
                        <a:srgbClr val="E5E7EB"/>
                      </a:solidFill>
                      <a:prstDash val="solid"/>
                    </a:lnB>
                    <a:solidFill>
                      <a:srgbClr val="991B1B"/>
                    </a:solidFill>
                  </a:tcPr>
                </a:tc>
                <a:tc>
                  <a:txBody>
                    <a:bodyPr/>
                    <a:lstStyle/>
                    <a:p>
                      <a:pPr marL="0" indent="0">
                        <a:buNone/>
                      </a:pPr>
                      <a:r>
                        <a:rPr sz="850" b="1">
                          <a:solidFill>
                            <a:srgbClr val="FFFFFF"/>
                          </a:solidFill>
                        </a:rPr>
                        <a:t>Where</a:t>
                      </a:r>
                      <a:endParaRPr sz="850"/>
                    </a:p>
                  </a:txBody>
                  <a:tcPr marL="63500" marR="63500" marT="25400" marB="25400" anchor="ctr">
                    <a:lnL w="9525" cmpd="sng">
                      <a:solidFill>
                        <a:srgbClr val="E5E7EB"/>
                      </a:solidFill>
                      <a:prstDash val="solid"/>
                    </a:lnL>
                    <a:lnR w="9525" cmpd="sng">
                      <a:solidFill>
                        <a:srgbClr val="E5E7EB"/>
                      </a:solidFill>
                      <a:prstDash val="solid"/>
                    </a:lnR>
                    <a:lnT w="9525" cmpd="sng">
                      <a:solidFill>
                        <a:srgbClr val="E5E7EB"/>
                      </a:solidFill>
                      <a:prstDash val="solid"/>
                    </a:lnT>
                    <a:lnB w="9525" cmpd="sng">
                      <a:solidFill>
                        <a:srgbClr val="E5E7EB"/>
                      </a:solidFill>
                      <a:prstDash val="solid"/>
                    </a:lnB>
                    <a:solidFill>
                      <a:srgbClr val="991B1B"/>
                    </a:solidFill>
                  </a:tcPr>
                </a:tc>
                <a:tc>
                  <a:txBody>
                    <a:bodyPr/>
                    <a:lstStyle/>
                    <a:p>
                      <a:pPr marL="0" indent="0">
                        <a:buNone/>
                      </a:pPr>
                      <a:r>
                        <a:rPr sz="850" b="1">
                          <a:solidFill>
                            <a:srgbClr val="FFFFFF"/>
                          </a:solidFill>
                        </a:rPr>
                        <a:t>Trigger</a:t>
                      </a:r>
                      <a:endParaRPr sz="850"/>
                    </a:p>
                  </a:txBody>
                  <a:tcPr marL="63500" marR="63500" marT="25400" marB="25400" anchor="ctr">
                    <a:lnL w="9525" cmpd="sng">
                      <a:solidFill>
                        <a:srgbClr val="E5E7EB"/>
                      </a:solidFill>
                      <a:prstDash val="solid"/>
                    </a:lnL>
                    <a:lnR w="9525" cmpd="sng">
                      <a:solidFill>
                        <a:srgbClr val="E5E7EB"/>
                      </a:solidFill>
                      <a:prstDash val="solid"/>
                    </a:lnR>
                    <a:lnT w="9525" cmpd="sng">
                      <a:solidFill>
                        <a:srgbClr val="E5E7EB"/>
                      </a:solidFill>
                      <a:prstDash val="solid"/>
                    </a:lnT>
                    <a:lnB w="9525" cmpd="sng">
                      <a:solidFill>
                        <a:srgbClr val="E5E7EB"/>
                      </a:solidFill>
                      <a:prstDash val="solid"/>
                    </a:lnB>
                    <a:solidFill>
                      <a:srgbClr val="991B1B"/>
                    </a:solidFill>
                  </a:tcPr>
                </a:tc>
                <a:tc>
                  <a:txBody>
                    <a:bodyPr/>
                    <a:lstStyle/>
                    <a:p>
                      <a:pPr marL="0" indent="0">
                        <a:buNone/>
                      </a:pPr>
                      <a:r>
                        <a:rPr sz="850" b="1">
                          <a:solidFill>
                            <a:srgbClr val="FFFFFF"/>
                          </a:solidFill>
                        </a:rPr>
                        <a:t>Handling</a:t>
                      </a:r>
                      <a:endParaRPr sz="850"/>
                    </a:p>
                  </a:txBody>
                  <a:tcPr marL="63500" marR="63500" marT="25400" marB="25400" anchor="ctr">
                    <a:lnL w="9525" cmpd="sng">
                      <a:solidFill>
                        <a:srgbClr val="E5E7EB"/>
                      </a:solidFill>
                      <a:prstDash val="solid"/>
                    </a:lnL>
                    <a:lnR w="9525" cmpd="sng">
                      <a:solidFill>
                        <a:srgbClr val="E5E7EB"/>
                      </a:solidFill>
                      <a:prstDash val="solid"/>
                    </a:lnR>
                    <a:lnT w="9525" cmpd="sng">
                      <a:solidFill>
                        <a:srgbClr val="E5E7EB"/>
                      </a:solidFill>
                      <a:prstDash val="solid"/>
                    </a:lnT>
                    <a:lnB w="9525" cmpd="sng">
                      <a:solidFill>
                        <a:srgbClr val="E5E7EB"/>
                      </a:solidFill>
                      <a:prstDash val="solid"/>
                    </a:lnB>
                    <a:solidFill>
                      <a:srgbClr val="991B1B"/>
                    </a:solidFill>
                  </a:tcPr>
                </a:tc>
              </a:tr>
              <a:tr h="365760">
                <a:tc>
                  <a:txBody>
                    <a:bodyPr/>
                    <a:lstStyle/>
                    <a:p>
                      <a:pPr marL="0" indent="0">
                        <a:buNone/>
                      </a:pPr>
                      <a:r>
                        <a:rPr sz="850">
                          <a:solidFill>
                            <a:srgbClr val="1F2937"/>
                          </a:solidFill>
                        </a:rPr>
                        <a:t>1</a:t>
                      </a:r>
                      <a:endParaRPr sz="850"/>
                    </a:p>
                  </a:txBody>
                  <a:tcPr marL="63500" marR="63500" marT="25400" marB="25400" anchor="ctr">
                    <a:lnL w="9525" cmpd="sng">
                      <a:solidFill>
                        <a:srgbClr val="E5E7EB"/>
                      </a:solidFill>
                      <a:prstDash val="solid"/>
                    </a:lnL>
                    <a:lnR w="9525" cmpd="sng">
                      <a:solidFill>
                        <a:srgbClr val="E5E7EB"/>
                      </a:solidFill>
                      <a:prstDash val="solid"/>
                    </a:lnR>
                    <a:lnT w="9525" cmpd="sng">
                      <a:solidFill>
                        <a:srgbClr val="E5E7EB"/>
                      </a:solidFill>
                      <a:prstDash val="solid"/>
                    </a:lnT>
                    <a:lnB w="9525" cmpd="sng">
                      <a:solidFill>
                        <a:srgbClr val="E5E7EB"/>
                      </a:solidFill>
                      <a:prstDash val="solid"/>
                    </a:lnB>
                  </a:tcPr>
                </a:tc>
                <a:tc>
                  <a:txBody>
                    <a:bodyPr/>
                    <a:lstStyle/>
                    <a:p>
                      <a:pPr marL="0" indent="0">
                        <a:buNone/>
                      </a:pPr>
                      <a:r>
                        <a:rPr sz="850">
                          <a:solidFill>
                            <a:srgbClr val="1F2937"/>
                          </a:solidFill>
                        </a:rPr>
                        <a:t>Check-in values</a:t>
                      </a:r>
                      <a:endParaRPr sz="850"/>
                    </a:p>
                  </a:txBody>
                  <a:tcPr marL="63500" marR="63500" marT="25400" marB="25400" anchor="ctr">
                    <a:lnL w="9525" cmpd="sng">
                      <a:solidFill>
                        <a:srgbClr val="E5E7EB"/>
                      </a:solidFill>
                      <a:prstDash val="solid"/>
                    </a:lnL>
                    <a:lnR w="9525" cmpd="sng">
                      <a:solidFill>
                        <a:srgbClr val="E5E7EB"/>
                      </a:solidFill>
                      <a:prstDash val="solid"/>
                    </a:lnR>
                    <a:lnT w="9525" cmpd="sng">
                      <a:solidFill>
                        <a:srgbClr val="E5E7EB"/>
                      </a:solidFill>
                      <a:prstDash val="solid"/>
                    </a:lnT>
                    <a:lnB w="9525" cmpd="sng">
                      <a:solidFill>
                        <a:srgbClr val="E5E7EB"/>
                      </a:solidFill>
                      <a:prstDash val="solid"/>
                    </a:lnB>
                  </a:tcPr>
                </a:tc>
                <a:tc>
                  <a:txBody>
                    <a:bodyPr/>
                    <a:lstStyle/>
                    <a:p>
                      <a:pPr marL="0" indent="0">
                        <a:buNone/>
                      </a:pPr>
                      <a:r>
                        <a:rPr sz="850">
                          <a:solidFill>
                            <a:srgbClr val="1F2937"/>
                          </a:solidFill>
                        </a:rPr>
                        <a:t>Check-in missing</a:t>
                      </a:r>
                      <a:endParaRPr sz="850"/>
                    </a:p>
                  </a:txBody>
                  <a:tcPr marL="63500" marR="63500" marT="25400" marB="25400" anchor="ctr">
                    <a:lnL w="9525" cmpd="sng">
                      <a:solidFill>
                        <a:srgbClr val="E5E7EB"/>
                      </a:solidFill>
                      <a:prstDash val="solid"/>
                    </a:lnL>
                    <a:lnR w="9525" cmpd="sng">
                      <a:solidFill>
                        <a:srgbClr val="E5E7EB"/>
                      </a:solidFill>
                      <a:prstDash val="solid"/>
                    </a:lnR>
                    <a:lnT w="9525" cmpd="sng">
                      <a:solidFill>
                        <a:srgbClr val="E5E7EB"/>
                      </a:solidFill>
                      <a:prstDash val="solid"/>
                    </a:lnT>
                    <a:lnB w="9525" cmpd="sng">
                      <a:solidFill>
                        <a:srgbClr val="E5E7EB"/>
                      </a:solidFill>
                      <a:prstDash val="solid"/>
                    </a:lnB>
                  </a:tcPr>
                </a:tc>
                <a:tc>
                  <a:txBody>
                    <a:bodyPr/>
                    <a:lstStyle/>
                    <a:p>
                      <a:pPr marL="0" indent="0">
                        <a:buNone/>
                      </a:pPr>
                      <a:r>
                        <a:rPr sz="850">
                          <a:solidFill>
                            <a:srgbClr val="1F2937"/>
                          </a:solidFill>
                        </a:rPr>
                        <a:t>Slot marked missing; shown as a gap.</a:t>
                      </a:r>
                      <a:endParaRPr sz="850"/>
                    </a:p>
                  </a:txBody>
                  <a:tcPr marL="63500" marR="63500" marT="25400" marB="25400" anchor="ctr">
                    <a:lnL w="9525" cmpd="sng">
                      <a:solidFill>
                        <a:srgbClr val="E5E7EB"/>
                      </a:solidFill>
                      <a:prstDash val="solid"/>
                    </a:lnL>
                    <a:lnR w="9525" cmpd="sng">
                      <a:solidFill>
                        <a:srgbClr val="E5E7EB"/>
                      </a:solidFill>
                      <a:prstDash val="solid"/>
                    </a:lnR>
                    <a:lnT w="9525" cmpd="sng">
                      <a:solidFill>
                        <a:srgbClr val="E5E7EB"/>
                      </a:solidFill>
                      <a:prstDash val="solid"/>
                    </a:lnT>
                    <a:lnB w="9525" cmpd="sng">
                      <a:solidFill>
                        <a:srgbClr val="E5E7EB"/>
                      </a:solidFill>
                      <a:prstDash val="solid"/>
                    </a:lnB>
                  </a:tcPr>
                </a:tc>
              </a:tr>
              <a:tr h="365760">
                <a:tc>
                  <a:txBody>
                    <a:bodyPr/>
                    <a:lstStyle/>
                    <a:p>
                      <a:pPr marL="0" indent="0">
                        <a:buNone/>
                      </a:pPr>
                      <a:r>
                        <a:rPr sz="850">
                          <a:solidFill>
                            <a:srgbClr val="1F2937"/>
                          </a:solidFill>
                        </a:rPr>
                        <a:t>6</a:t>
                      </a:r>
                      <a:endParaRPr sz="850"/>
                    </a:p>
                  </a:txBody>
                  <a:tcPr marL="63500" marR="63500" marT="25400" marB="25400" anchor="ctr">
                    <a:lnL w="9525" cmpd="sng">
                      <a:solidFill>
                        <a:srgbClr val="E5E7EB"/>
                      </a:solidFill>
                      <a:prstDash val="solid"/>
                    </a:lnL>
                    <a:lnR w="9525" cmpd="sng">
                      <a:solidFill>
                        <a:srgbClr val="E5E7EB"/>
                      </a:solidFill>
                      <a:prstDash val="solid"/>
                    </a:lnR>
                    <a:lnT w="9525" cmpd="sng">
                      <a:solidFill>
                        <a:srgbClr val="E5E7EB"/>
                      </a:solidFill>
                      <a:prstDash val="solid"/>
                    </a:lnT>
                    <a:lnB w="9525" cmpd="sng">
                      <a:solidFill>
                        <a:srgbClr val="E5E7EB"/>
                      </a:solidFill>
                      <a:prstDash val="solid"/>
                    </a:lnB>
                  </a:tcPr>
                </a:tc>
                <a:tc>
                  <a:txBody>
                    <a:bodyPr/>
                    <a:lstStyle/>
                    <a:p>
                      <a:pPr marL="0" indent="0">
                        <a:buNone/>
                      </a:pPr>
                      <a:r>
                        <a:rPr sz="850">
                          <a:solidFill>
                            <a:srgbClr val="1F2937"/>
                          </a:solidFill>
                        </a:rPr>
                        <a:t>Write</a:t>
                      </a:r>
                      <a:endParaRPr sz="850"/>
                    </a:p>
                  </a:txBody>
                  <a:tcPr marL="63500" marR="63500" marT="25400" marB="25400" anchor="ctr">
                    <a:lnL w="9525" cmpd="sng">
                      <a:solidFill>
                        <a:srgbClr val="E5E7EB"/>
                      </a:solidFill>
                      <a:prstDash val="solid"/>
                    </a:lnL>
                    <a:lnR w="9525" cmpd="sng">
                      <a:solidFill>
                        <a:srgbClr val="E5E7EB"/>
                      </a:solidFill>
                      <a:prstDash val="solid"/>
                    </a:lnR>
                    <a:lnT w="9525" cmpd="sng">
                      <a:solidFill>
                        <a:srgbClr val="E5E7EB"/>
                      </a:solidFill>
                      <a:prstDash val="solid"/>
                    </a:lnT>
                    <a:lnB w="9525" cmpd="sng">
                      <a:solidFill>
                        <a:srgbClr val="E5E7EB"/>
                      </a:solidFill>
                      <a:prstDash val="solid"/>
                    </a:lnB>
                  </a:tcPr>
                </a:tc>
                <a:tc>
                  <a:txBody>
                    <a:bodyPr/>
                    <a:lstStyle/>
                    <a:p>
                      <a:pPr marL="0" indent="0">
                        <a:buNone/>
                      </a:pPr>
                      <a:r>
                        <a:rPr sz="850">
                          <a:solidFill>
                            <a:srgbClr val="1F2937"/>
                          </a:solidFill>
                        </a:rPr>
                        <a:t>Write fails</a:t>
                      </a:r>
                      <a:endParaRPr sz="850"/>
                    </a:p>
                  </a:txBody>
                  <a:tcPr marL="63500" marR="63500" marT="25400" marB="25400" anchor="ctr">
                    <a:lnL w="9525" cmpd="sng">
                      <a:solidFill>
                        <a:srgbClr val="E5E7EB"/>
                      </a:solidFill>
                      <a:prstDash val="solid"/>
                    </a:lnL>
                    <a:lnR w="9525" cmpd="sng">
                      <a:solidFill>
                        <a:srgbClr val="E5E7EB"/>
                      </a:solidFill>
                      <a:prstDash val="solid"/>
                    </a:lnR>
                    <a:lnT w="9525" cmpd="sng">
                      <a:solidFill>
                        <a:srgbClr val="E5E7EB"/>
                      </a:solidFill>
                      <a:prstDash val="solid"/>
                    </a:lnT>
                    <a:lnB w="9525" cmpd="sng">
                      <a:solidFill>
                        <a:srgbClr val="E5E7EB"/>
                      </a:solidFill>
                      <a:prstDash val="solid"/>
                    </a:lnB>
                  </a:tcPr>
                </a:tc>
                <a:tc>
                  <a:txBody>
                    <a:bodyPr/>
                    <a:lstStyle/>
                    <a:p>
                      <a:pPr marL="0" indent="0">
                        <a:buNone/>
                      </a:pPr>
                      <a:r>
                        <a:rPr sz="850">
                          <a:solidFill>
                            <a:srgbClr val="1F2937"/>
                          </a:solidFill>
                        </a:rPr>
                        <a:t>Retried; admin alerted on repeated failure.</a:t>
                      </a:r>
                      <a:endParaRPr sz="850"/>
                    </a:p>
                  </a:txBody>
                  <a:tcPr marL="63500" marR="63500" marT="25400" marB="25400" anchor="ctr">
                    <a:lnL w="9525" cmpd="sng">
                      <a:solidFill>
                        <a:srgbClr val="E5E7EB"/>
                      </a:solidFill>
                      <a:prstDash val="solid"/>
                    </a:lnL>
                    <a:lnR w="9525" cmpd="sng">
                      <a:solidFill>
                        <a:srgbClr val="E5E7EB"/>
                      </a:solidFill>
                      <a:prstDash val="solid"/>
                    </a:lnR>
                    <a:lnT w="9525" cmpd="sng">
                      <a:solidFill>
                        <a:srgbClr val="E5E7EB"/>
                      </a:solidFill>
                      <a:prstDash val="solid"/>
                    </a:lnT>
                    <a:lnB w="9525" cmpd="sng">
                      <a:solidFill>
                        <a:srgbClr val="E5E7EB"/>
                      </a:solidFill>
                      <a:prstDash val="solid"/>
                    </a:lnB>
                  </a:tcPr>
                </a:tc>
              </a:tr>
              <a:tr h="365760">
                <a:tc>
                  <a:txBody>
                    <a:bodyPr/>
                    <a:lstStyle/>
                    <a:p>
                      <a:pPr marL="0" indent="0">
                        <a:buNone/>
                      </a:pPr>
                      <a:r>
                        <a:rPr sz="850">
                          <a:solidFill>
                            <a:srgbClr val="1F2937"/>
                          </a:solidFill>
                        </a:rPr>
                        <a:t>7</a:t>
                      </a:r>
                      <a:endParaRPr sz="850"/>
                    </a:p>
                  </a:txBody>
                  <a:tcPr marL="63500" marR="63500" marT="25400" marB="25400" anchor="ctr">
                    <a:lnL w="9525" cmpd="sng">
                      <a:solidFill>
                        <a:srgbClr val="E5E7EB"/>
                      </a:solidFill>
                      <a:prstDash val="solid"/>
                    </a:lnL>
                    <a:lnR w="9525" cmpd="sng">
                      <a:solidFill>
                        <a:srgbClr val="E5E7EB"/>
                      </a:solidFill>
                      <a:prstDash val="solid"/>
                    </a:lnR>
                    <a:lnT w="9525" cmpd="sng">
                      <a:solidFill>
                        <a:srgbClr val="E5E7EB"/>
                      </a:solidFill>
                      <a:prstDash val="solid"/>
                    </a:lnT>
                    <a:lnB w="9525" cmpd="sng">
                      <a:solidFill>
                        <a:srgbClr val="E5E7EB"/>
                      </a:solidFill>
                      <a:prstDash val="solid"/>
                    </a:lnB>
                  </a:tcPr>
                </a:tc>
                <a:tc>
                  <a:txBody>
                    <a:bodyPr/>
                    <a:lstStyle/>
                    <a:p>
                      <a:pPr marL="0" indent="0">
                        <a:buNone/>
                      </a:pPr>
                      <a:r>
                        <a:rPr sz="850">
                          <a:solidFill>
                            <a:srgbClr val="1F2937"/>
                          </a:solidFill>
                        </a:rPr>
                        <a:t>Enough readings check</a:t>
                      </a:r>
                      <a:endParaRPr sz="850"/>
                    </a:p>
                  </a:txBody>
                  <a:tcPr marL="63500" marR="63500" marT="25400" marB="25400" anchor="ctr">
                    <a:lnL w="9525" cmpd="sng">
                      <a:solidFill>
                        <a:srgbClr val="E5E7EB"/>
                      </a:solidFill>
                      <a:prstDash val="solid"/>
                    </a:lnL>
                    <a:lnR w="9525" cmpd="sng">
                      <a:solidFill>
                        <a:srgbClr val="E5E7EB"/>
                      </a:solidFill>
                      <a:prstDash val="solid"/>
                    </a:lnR>
                    <a:lnT w="9525" cmpd="sng">
                      <a:solidFill>
                        <a:srgbClr val="E5E7EB"/>
                      </a:solidFill>
                      <a:prstDash val="solid"/>
                    </a:lnT>
                    <a:lnB w="9525" cmpd="sng">
                      <a:solidFill>
                        <a:srgbClr val="E5E7EB"/>
                      </a:solidFill>
                      <a:prstDash val="solid"/>
                    </a:lnB>
                  </a:tcPr>
                </a:tc>
                <a:tc>
                  <a:txBody>
                    <a:bodyPr/>
                    <a:lstStyle/>
                    <a:p>
                      <a:pPr marL="0" indent="0">
                        <a:buNone/>
                      </a:pPr>
                      <a:r>
                        <a:rPr sz="850">
                          <a:solidFill>
                            <a:srgbClr val="1F2937"/>
                          </a:solidFill>
                        </a:rPr>
                        <a:t>Not enough valid readings for the day</a:t>
                      </a:r>
                      <a:endParaRPr sz="850"/>
                    </a:p>
                  </a:txBody>
                  <a:tcPr marL="63500" marR="63500" marT="25400" marB="25400" anchor="ctr">
                    <a:lnL w="9525" cmpd="sng">
                      <a:solidFill>
                        <a:srgbClr val="E5E7EB"/>
                      </a:solidFill>
                      <a:prstDash val="solid"/>
                    </a:lnL>
                    <a:lnR w="9525" cmpd="sng">
                      <a:solidFill>
                        <a:srgbClr val="E5E7EB"/>
                      </a:solidFill>
                      <a:prstDash val="solid"/>
                    </a:lnR>
                    <a:lnT w="9525" cmpd="sng">
                      <a:solidFill>
                        <a:srgbClr val="E5E7EB"/>
                      </a:solidFill>
                      <a:prstDash val="solid"/>
                    </a:lnT>
                    <a:lnB w="9525" cmpd="sng">
                      <a:solidFill>
                        <a:srgbClr val="E5E7EB"/>
                      </a:solidFill>
                      <a:prstDash val="solid"/>
                    </a:lnB>
                  </a:tcPr>
                </a:tc>
                <a:tc>
                  <a:txBody>
                    <a:bodyPr/>
                    <a:lstStyle/>
                    <a:p>
                      <a:pPr marL="0" indent="0">
                        <a:buNone/>
                      </a:pPr>
                      <a:r>
                        <a:rPr sz="850">
                          <a:solidFill>
                            <a:srgbClr val="1F2937"/>
                          </a:solidFill>
                        </a:rPr>
                        <a:t>Day marked as not enough data; no value is estimated.</a:t>
                      </a:r>
                      <a:endParaRPr sz="850"/>
                    </a:p>
                  </a:txBody>
                  <a:tcPr marL="63500" marR="63500" marT="25400" marB="25400" anchor="ctr">
                    <a:lnL w="9525" cmpd="sng">
                      <a:solidFill>
                        <a:srgbClr val="E5E7EB"/>
                      </a:solidFill>
                      <a:prstDash val="solid"/>
                    </a:lnL>
                    <a:lnR w="9525" cmpd="sng">
                      <a:solidFill>
                        <a:srgbClr val="E5E7EB"/>
                      </a:solidFill>
                      <a:prstDash val="solid"/>
                    </a:lnR>
                    <a:lnT w="9525" cmpd="sng">
                      <a:solidFill>
                        <a:srgbClr val="E5E7EB"/>
                      </a:solidFill>
                      <a:prstDash val="solid"/>
                    </a:lnT>
                    <a:lnB w="9525" cmpd="sng">
                      <a:solidFill>
                        <a:srgbClr val="E5E7EB"/>
                      </a:solidFill>
                      <a:prstDash val="solid"/>
                    </a:lnB>
                  </a:tcPr>
                </a:tc>
              </a:tr>
            </a:tbl>
          </a:graphicData>
        </a:graphic>
      </p:graphicFrame>
    </p:spTree>
    <p:extLst>
      <p:ext uri="{BB962C8B-B14F-4D97-AF65-F5344CB8AC3E}">
        <p14:creationId xmlns:p14="http://schemas.microsoft.com/office/powerpoint/2010/main" val="128283863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8" name="">
            <a:extLst xmlns:a="http://schemas.openxmlformats.org/drawingml/2006/main">
              <a:ext uri="{FF2B5EF4-FFF2-40B4-BE49-F238E27FC236}">
                <a16:creationId xmlns:a16="http://schemas.microsoft.com/office/drawing/2014/main" id="{7B3B6636-5B48-4041-9E5E-6DAE0F6DEB66}"/>
              </a:ext>
            </a:extLst>
          </p:cNvPr>
          <p:cNvCxnSpPr>
            <a:stCxn xmlns:a="http://schemas.openxmlformats.org/drawingml/2006/main" id="21" idx="2"/>
            <a:endCxn xmlns:a="http://schemas.openxmlformats.org/drawingml/2006/main" id="25" idx="0"/>
          </p:cNvCxnSpPr>
          <p:nvPr/>
        </p:nvCxnSpPr>
        <p:spPr>
          <a:xfrm xmlns:a="http://schemas.openxmlformats.org/drawingml/2006/main">
            <a:off x="6091238" y="4667250"/>
            <a:ext cx="4076700" cy="619125"/>
          </a:xfrm>
          <a:prstGeom xmlns:a="http://schemas.openxmlformats.org/drawingml/2006/main" prst="straightConnector1">
            <a:avLst/>
          </a:prstGeom>
          <a:ln xmlns:a="http://schemas.openxmlformats.org/drawingml/2006/main" w="14288">
            <a:solidFill>
              <a:srgbClr val="334155"/>
            </a:solidFill>
            <a:tailEnd type="triangle" w="med" len="med"/>
          </a:ln>
        </p:spPr>
      </p:cxnSp>
      <p:cxnSp>
        <p:nvCxnSpPr>
          <p:cNvPr id="27" name="">
            <a:extLst xmlns:a="http://schemas.openxmlformats.org/drawingml/2006/main">
              <a:ext uri="{FF2B5EF4-FFF2-40B4-BE49-F238E27FC236}">
                <a16:creationId xmlns:a16="http://schemas.microsoft.com/office/drawing/2014/main" id="{19C10428-49F4-415D-8771-89A3FA2D2778}"/>
              </a:ext>
            </a:extLst>
          </p:cNvPr>
          <p:cNvCxnSpPr>
            <a:stCxn xmlns:a="http://schemas.openxmlformats.org/drawingml/2006/main" id="21" idx="2"/>
            <a:endCxn xmlns:a="http://schemas.openxmlformats.org/drawingml/2006/main" id="24" idx="0"/>
          </p:cNvCxnSpPr>
          <p:nvPr/>
        </p:nvCxnSpPr>
        <p:spPr>
          <a:xfrm xmlns:a="http://schemas.openxmlformats.org/drawingml/2006/main">
            <a:off x="6091238" y="4667250"/>
            <a:ext cx="0" cy="619125"/>
          </a:xfrm>
          <a:prstGeom xmlns:a="http://schemas.openxmlformats.org/drawingml/2006/main" prst="straightConnector1">
            <a:avLst/>
          </a:prstGeom>
          <a:ln xmlns:a="http://schemas.openxmlformats.org/drawingml/2006/main" w="14288">
            <a:solidFill>
              <a:srgbClr val="334155"/>
            </a:solidFill>
            <a:tailEnd type="triangle" w="med" len="med"/>
          </a:ln>
        </p:spPr>
      </p:cxnSp>
      <p:cxnSp>
        <p:nvCxnSpPr>
          <p:cNvPr id="26" name="">
            <a:extLst xmlns:a="http://schemas.openxmlformats.org/drawingml/2006/main">
              <a:ext uri="{FF2B5EF4-FFF2-40B4-BE49-F238E27FC236}">
                <a16:creationId xmlns:a16="http://schemas.microsoft.com/office/drawing/2014/main" id="{5276BCBA-1674-4DD0-BA01-C4B514967B30}"/>
              </a:ext>
            </a:extLst>
          </p:cNvPr>
          <p:cNvCxnSpPr>
            <a:stCxn xmlns:a="http://schemas.openxmlformats.org/drawingml/2006/main" id="21" idx="2"/>
            <a:endCxn xmlns:a="http://schemas.openxmlformats.org/drawingml/2006/main" id="23" idx="0"/>
          </p:cNvCxnSpPr>
          <p:nvPr/>
        </p:nvCxnSpPr>
        <p:spPr>
          <a:xfrm xmlns:a="http://schemas.openxmlformats.org/drawingml/2006/main" flipH="1">
            <a:off x="2014538" y="4667250"/>
            <a:ext cx="4076700" cy="619125"/>
          </a:xfrm>
          <a:prstGeom xmlns:a="http://schemas.openxmlformats.org/drawingml/2006/main" prst="straightConnector1">
            <a:avLst/>
          </a:prstGeom>
          <a:ln xmlns:a="http://schemas.openxmlformats.org/drawingml/2006/main" w="14288">
            <a:solidFill>
              <a:srgbClr val="334155"/>
            </a:solidFill>
            <a:tailEnd type="triangle" w="med" len="med"/>
          </a:ln>
        </p:spPr>
      </p:cxnSp>
      <p:cxnSp>
        <p:nvCxnSpPr>
          <p:cNvPr id="22" name="">
            <a:extLst xmlns:a="http://schemas.openxmlformats.org/drawingml/2006/main">
              <a:ext uri="{FF2B5EF4-FFF2-40B4-BE49-F238E27FC236}">
                <a16:creationId xmlns:a16="http://schemas.microsoft.com/office/drawing/2014/main" id="{C5B8D587-8910-4B22-829C-3D4EE7B12458}"/>
              </a:ext>
            </a:extLst>
          </p:cNvPr>
          <p:cNvCxnSpPr>
            <a:stCxn xmlns:a="http://schemas.openxmlformats.org/drawingml/2006/main" id="16" idx="2"/>
            <a:endCxn xmlns:a="http://schemas.openxmlformats.org/drawingml/2006/main" id="21" idx="0"/>
          </p:cNvCxnSpPr>
          <p:nvPr/>
        </p:nvCxnSpPr>
        <p:spPr>
          <a:xfrm xmlns:a="http://schemas.openxmlformats.org/drawingml/2006/main">
            <a:off x="1585913" y="3524250"/>
            <a:ext cx="4505325" cy="523875"/>
          </a:xfrm>
          <a:prstGeom xmlns:a="http://schemas.openxmlformats.org/drawingml/2006/main" prst="straightConnector1">
            <a:avLst/>
          </a:prstGeom>
          <a:ln xmlns:a="http://schemas.openxmlformats.org/drawingml/2006/main" w="14288">
            <a:solidFill>
              <a:srgbClr val="334155"/>
            </a:solidFill>
            <a:tailEnd type="triangle" w="med" len="med"/>
          </a:ln>
        </p:spPr>
      </p:cxnSp>
      <p:cxnSp>
        <p:nvCxnSpPr>
          <p:cNvPr id="20" name="">
            <a:extLst xmlns:a="http://schemas.openxmlformats.org/drawingml/2006/main">
              <a:ext uri="{FF2B5EF4-FFF2-40B4-BE49-F238E27FC236}">
                <a16:creationId xmlns:a16="http://schemas.microsoft.com/office/drawing/2014/main" id="{1F2D2DFA-DD9D-4E0D-B0A2-6CA271DBDD7C}"/>
              </a:ext>
            </a:extLst>
          </p:cNvPr>
          <p:cNvCxnSpPr>
            <a:stCxn xmlns:a="http://schemas.openxmlformats.org/drawingml/2006/main" id="15" idx="1"/>
            <a:endCxn xmlns:a="http://schemas.openxmlformats.org/drawingml/2006/main" id="16" idx="3"/>
          </p:cNvCxnSpPr>
          <p:nvPr/>
        </p:nvCxnSpPr>
        <p:spPr>
          <a:xfrm xmlns:a="http://schemas.openxmlformats.org/drawingml/2006/main" flipH="1">
            <a:off x="2847975" y="3143250"/>
            <a:ext cx="533400" cy="0"/>
          </a:xfrm>
          <a:prstGeom xmlns:a="http://schemas.openxmlformats.org/drawingml/2006/main" prst="straightConnector1">
            <a:avLst/>
          </a:prstGeom>
          <a:ln xmlns:a="http://schemas.openxmlformats.org/drawingml/2006/main" w="14288">
            <a:solidFill>
              <a:srgbClr val="334155"/>
            </a:solidFill>
            <a:tailEnd type="triangle" w="med" len="med"/>
          </a:ln>
        </p:spPr>
      </p:cxnSp>
      <p:cxnSp>
        <p:nvCxnSpPr>
          <p:cNvPr id="19" name="">
            <a:extLst xmlns:a="http://schemas.openxmlformats.org/drawingml/2006/main">
              <a:ext uri="{FF2B5EF4-FFF2-40B4-BE49-F238E27FC236}">
                <a16:creationId xmlns:a16="http://schemas.microsoft.com/office/drawing/2014/main" id="{10E09B14-7E6D-49D9-99C8-17491294DA5C}"/>
              </a:ext>
            </a:extLst>
          </p:cNvPr>
          <p:cNvCxnSpPr>
            <a:stCxn xmlns:a="http://schemas.openxmlformats.org/drawingml/2006/main" id="14" idx="1"/>
            <a:endCxn xmlns:a="http://schemas.openxmlformats.org/drawingml/2006/main" id="15" idx="3"/>
          </p:cNvCxnSpPr>
          <p:nvPr/>
        </p:nvCxnSpPr>
        <p:spPr>
          <a:xfrm xmlns:a="http://schemas.openxmlformats.org/drawingml/2006/main" flipH="1">
            <a:off x="5953125" y="3143250"/>
            <a:ext cx="571500" cy="0"/>
          </a:xfrm>
          <a:prstGeom xmlns:a="http://schemas.openxmlformats.org/drawingml/2006/main" prst="straightConnector1">
            <a:avLst/>
          </a:prstGeom>
          <a:ln xmlns:a="http://schemas.openxmlformats.org/drawingml/2006/main" w="14288">
            <a:solidFill>
              <a:srgbClr val="334155"/>
            </a:solidFill>
            <a:tailEnd type="triangle" w="med" len="med"/>
          </a:ln>
        </p:spPr>
      </p:cxnSp>
      <p:cxnSp>
        <p:nvCxnSpPr>
          <p:cNvPr id="18" name="">
            <a:extLst xmlns:a="http://schemas.openxmlformats.org/drawingml/2006/main">
              <a:ext uri="{FF2B5EF4-FFF2-40B4-BE49-F238E27FC236}">
                <a16:creationId xmlns:a16="http://schemas.microsoft.com/office/drawing/2014/main" id="{D1B16545-B78B-455D-BDD5-4699FF1A4E72}"/>
              </a:ext>
            </a:extLst>
          </p:cNvPr>
          <p:cNvCxnSpPr>
            <a:stCxn xmlns:a="http://schemas.openxmlformats.org/drawingml/2006/main" id="13" idx="1"/>
            <a:endCxn xmlns:a="http://schemas.openxmlformats.org/drawingml/2006/main" id="14" idx="3"/>
          </p:cNvCxnSpPr>
          <p:nvPr/>
        </p:nvCxnSpPr>
        <p:spPr>
          <a:xfrm xmlns:a="http://schemas.openxmlformats.org/drawingml/2006/main" flipH="1">
            <a:off x="9096375" y="3143250"/>
            <a:ext cx="523875" cy="0"/>
          </a:xfrm>
          <a:prstGeom xmlns:a="http://schemas.openxmlformats.org/drawingml/2006/main" prst="straightConnector1">
            <a:avLst/>
          </a:prstGeom>
          <a:ln xmlns:a="http://schemas.openxmlformats.org/drawingml/2006/main" w="14288">
            <a:solidFill>
              <a:srgbClr val="334155"/>
            </a:solidFill>
            <a:tailEnd type="triangle" w="med" len="med"/>
          </a:ln>
        </p:spPr>
      </p:cxnSp>
      <p:cxnSp>
        <p:nvCxnSpPr>
          <p:cNvPr id="17" name="">
            <a:extLst xmlns:a="http://schemas.openxmlformats.org/drawingml/2006/main">
              <a:ext uri="{FF2B5EF4-FFF2-40B4-BE49-F238E27FC236}">
                <a16:creationId xmlns:a16="http://schemas.microsoft.com/office/drawing/2014/main" id="{2C781237-E423-4E1D-AC2D-09911AE0C1D3}"/>
              </a:ext>
            </a:extLst>
          </p:cNvPr>
          <p:cNvCxnSpPr>
            <a:stCxn xmlns:a="http://schemas.openxmlformats.org/drawingml/2006/main" id="9" idx="2"/>
            <a:endCxn xmlns:a="http://schemas.openxmlformats.org/drawingml/2006/main" id="13" idx="0"/>
          </p:cNvCxnSpPr>
          <p:nvPr/>
        </p:nvCxnSpPr>
        <p:spPr>
          <a:xfrm xmlns:a="http://schemas.openxmlformats.org/drawingml/2006/main">
            <a:off x="10739438" y="2190750"/>
            <a:ext cx="0" cy="571500"/>
          </a:xfrm>
          <a:prstGeom xmlns:a="http://schemas.openxmlformats.org/drawingml/2006/main" prst="straightConnector1">
            <a:avLst/>
          </a:prstGeom>
          <a:ln xmlns:a="http://schemas.openxmlformats.org/drawingml/2006/main" w="14288">
            <a:solidFill>
              <a:srgbClr val="334155"/>
            </a:solidFill>
            <a:tailEnd type="triangle" w="med" len="med"/>
          </a:ln>
        </p:spPr>
      </p:cxnSp>
      <p:cxnSp>
        <p:nvCxnSpPr>
          <p:cNvPr id="12" name="">
            <a:extLst xmlns:a="http://schemas.openxmlformats.org/drawingml/2006/main">
              <a:ext uri="{FF2B5EF4-FFF2-40B4-BE49-F238E27FC236}">
                <a16:creationId xmlns:a16="http://schemas.microsoft.com/office/drawing/2014/main" id="{0182A60C-8659-401D-9024-9A4C1672A62F}"/>
              </a:ext>
            </a:extLst>
          </p:cNvPr>
          <p:cNvCxnSpPr>
            <a:stCxn xmlns:a="http://schemas.openxmlformats.org/drawingml/2006/main" id="8" idx="3"/>
            <a:endCxn xmlns:a="http://schemas.openxmlformats.org/drawingml/2006/main" id="9" idx="1"/>
          </p:cNvCxnSpPr>
          <p:nvPr/>
        </p:nvCxnSpPr>
        <p:spPr>
          <a:xfrm xmlns:a="http://schemas.openxmlformats.org/drawingml/2006/main">
            <a:off x="9096375" y="1809750"/>
            <a:ext cx="523875" cy="0"/>
          </a:xfrm>
          <a:prstGeom xmlns:a="http://schemas.openxmlformats.org/drawingml/2006/main" prst="straightConnector1">
            <a:avLst/>
          </a:prstGeom>
          <a:ln xmlns:a="http://schemas.openxmlformats.org/drawingml/2006/main" w="14288">
            <a:solidFill>
              <a:srgbClr val="334155"/>
            </a:solidFill>
            <a:tailEnd type="triangle" w="med" len="med"/>
          </a:ln>
        </p:spPr>
      </p:cxnSp>
      <p:cxnSp>
        <p:nvCxnSpPr>
          <p:cNvPr id="11" name="">
            <a:extLst xmlns:a="http://schemas.openxmlformats.org/drawingml/2006/main">
              <a:ext uri="{FF2B5EF4-FFF2-40B4-BE49-F238E27FC236}">
                <a16:creationId xmlns:a16="http://schemas.microsoft.com/office/drawing/2014/main" id="{D67B4432-9D7D-426B-98BE-86D66DBC6341}"/>
              </a:ext>
            </a:extLst>
          </p:cNvPr>
          <p:cNvCxnSpPr>
            <a:stCxn xmlns:a="http://schemas.openxmlformats.org/drawingml/2006/main" id="7" idx="3"/>
            <a:endCxn xmlns:a="http://schemas.openxmlformats.org/drawingml/2006/main" id="8" idx="1"/>
          </p:cNvCxnSpPr>
          <p:nvPr/>
        </p:nvCxnSpPr>
        <p:spPr>
          <a:xfrm xmlns:a="http://schemas.openxmlformats.org/drawingml/2006/main">
            <a:off x="5953125" y="1809750"/>
            <a:ext cx="571500" cy="0"/>
          </a:xfrm>
          <a:prstGeom xmlns:a="http://schemas.openxmlformats.org/drawingml/2006/main" prst="straightConnector1">
            <a:avLst/>
          </a:prstGeom>
          <a:ln xmlns:a="http://schemas.openxmlformats.org/drawingml/2006/main" w="14288">
            <a:solidFill>
              <a:srgbClr val="334155"/>
            </a:solidFill>
            <a:tailEnd type="triangle" w="med" len="med"/>
          </a:ln>
        </p:spPr>
      </p:cxnSp>
      <p:cxnSp>
        <p:nvCxnSpPr>
          <p:cNvPr id="10" name="">
            <a:extLst xmlns:a="http://schemas.openxmlformats.org/drawingml/2006/main">
              <a:ext uri="{FF2B5EF4-FFF2-40B4-BE49-F238E27FC236}">
                <a16:creationId xmlns:a16="http://schemas.microsoft.com/office/drawing/2014/main" id="{C7D2591A-51CC-4A24-A4BE-159A23B6E94D}"/>
              </a:ext>
            </a:extLst>
          </p:cNvPr>
          <p:cNvCxnSpPr>
            <a:stCxn xmlns:a="http://schemas.openxmlformats.org/drawingml/2006/main" id="6" idx="3"/>
            <a:endCxn xmlns:a="http://schemas.openxmlformats.org/drawingml/2006/main" id="7" idx="1"/>
          </p:cNvCxnSpPr>
          <p:nvPr/>
        </p:nvCxnSpPr>
        <p:spPr>
          <a:xfrm xmlns:a="http://schemas.openxmlformats.org/drawingml/2006/main">
            <a:off x="2847975" y="1809750"/>
            <a:ext cx="533400" cy="0"/>
          </a:xfrm>
          <a:prstGeom xmlns:a="http://schemas.openxmlformats.org/drawingml/2006/main" prst="straightConnector1">
            <a:avLst/>
          </a:prstGeom>
          <a:ln xmlns:a="http://schemas.openxmlformats.org/drawingml/2006/main" w="14288">
            <a:solidFill>
              <a:srgbClr val="334155"/>
            </a:solidFill>
            <a:tailEnd type="triangle" w="med" len="med"/>
          </a:ln>
        </p:spPr>
      </p:cxnSp>
      <p:sp>
        <p:nvSpPr>
          <p:cNvPr id="30" name="title">
            <a:extLst xmlns:a="http://schemas.openxmlformats.org/drawingml/2006/main">
              <a:ext uri="{FF2B5EF4-FFF2-40B4-BE49-F238E27FC236}">
                <a16:creationId xmlns:a16="http://schemas.microsoft.com/office/drawing/2014/main" id="{5633B635-E39B-4972-9A10-6AB0E9494FCD}"/>
              </a:ext>
            </a:extLst>
          </p:cNvPr>
          <p:cNvSpPr>
            <a:spLocks xmlns:a="http://schemas.openxmlformats.org/drawingml/2006/main" noGrp="1"/>
          </p:cNvSpPr>
          <p:nvPr/>
        </p:nvSpPr>
        <p:spPr>
          <a:xfrm xmlns:a="http://schemas.openxmlformats.org/drawingml/2006/main">
            <a:off x="323850" y="152400"/>
            <a:ext cx="11525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ctr">
              <a:defRPr sz="2250" b="1">
                <a:solidFill>
                  <a:srgbClr val="1F2937"/>
                </a:solidFill>
              </a:defRPr>
            </a:defPPr>
          </a:lstStyle>
          <a:p xmlns:a="http://schemas.openxmlformats.org/drawingml/2006/main">
            <a:pPr algn="ctr">
              <a:defRPr sz="2250" b="1">
                <a:solidFill>
                  <a:srgbClr val="1F2937"/>
                </a:solidFill>
              </a:defRPr>
            </a:pPr>
            <a:r>
              <a:rPr sz="2250" b="1">
                <a:solidFill>
                  <a:srgbClr val="1F2937"/>
                </a:solidFill>
              </a:rPr>
              <a:t>2c Processing: database to frontend</a:t>
            </a:r>
          </a:p>
        </p:txBody>
      </p:sp>
      <p:sp>
        <p:nvSpPr>
          <p:cNvPr id="2" name="subtitle">
            <a:extLst xmlns:a="http://schemas.openxmlformats.org/drawingml/2006/main">
              <a:ext uri="{FF2B5EF4-FFF2-40B4-BE49-F238E27FC236}">
                <a16:creationId xmlns:a16="http://schemas.microsoft.com/office/drawing/2014/main" id="{2671A767-B056-411A-8E3F-4B83690B986D}"/>
              </a:ext>
            </a:extLst>
          </p:cNvPr>
          <p:cNvSpPr>
            <a:spLocks xmlns:a="http://schemas.openxmlformats.org/drawingml/2006/main" noGrp="1"/>
          </p:cNvSpPr>
          <p:nvPr/>
        </p:nvSpPr>
        <p:spPr>
          <a:xfrm xmlns:a="http://schemas.openxmlformats.org/drawingml/2006/main">
            <a:off x="323850" y="600075"/>
            <a:ext cx="11525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ctr">
              <a:defRPr sz="1350" b="0">
                <a:solidFill>
                  <a:srgbClr val="1F2937"/>
                </a:solidFill>
              </a:defRPr>
            </a:defPPr>
          </a:lstStyle>
          <a:p xmlns:a="http://schemas.openxmlformats.org/drawingml/2006/main">
            <a:pPr algn="ctr">
              <a:defRPr sz="1350" b="0">
                <a:solidFill>
                  <a:srgbClr val="1F2937"/>
                </a:solidFill>
              </a:defRPr>
            </a:pPr>
            <a:r>
              <a:rPr sz="1350" b="0">
                <a:solidFill>
                  <a:srgbClr val="1F2937"/>
                </a:solidFill>
              </a:rPr>
              <a:t>Stored values feed the daily and weekly dashboard</a:t>
            </a:r>
          </a:p>
        </p:txBody>
      </p:sp>
      <p:sp>
        <p:nvSpPr>
          <p:cNvPr id="3" name="frontend-request-label">
            <a:extLst xmlns:a="http://schemas.openxmlformats.org/drawingml/2006/main">
              <a:ext uri="{FF2B5EF4-FFF2-40B4-BE49-F238E27FC236}">
                <a16:creationId xmlns:a16="http://schemas.microsoft.com/office/drawing/2014/main" id="{5A631A1E-FCFA-4D01-B8BD-87E9B76A160A}"/>
              </a:ext>
            </a:extLst>
          </p:cNvPr>
          <p:cNvSpPr>
            <a:spLocks xmlns:a="http://schemas.openxmlformats.org/drawingml/2006/main" noGrp="1"/>
          </p:cNvSpPr>
          <p:nvPr/>
        </p:nvSpPr>
        <p:spPr>
          <a:xfrm xmlns:a="http://schemas.openxmlformats.org/drawingml/2006/main">
            <a:off x="323850" y="1000125"/>
            <a:ext cx="2524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ctr">
              <a:defRPr sz="1500" b="1">
                <a:solidFill>
                  <a:srgbClr val="1F2937"/>
                </a:solidFill>
              </a:defRPr>
            </a:defPPr>
          </a:lstStyle>
          <a:p xmlns:a="http://schemas.openxmlformats.org/drawingml/2006/main">
            <a:pPr algn="ctr">
              <a:defRPr sz="1500" b="1">
                <a:solidFill>
                  <a:srgbClr val="1F2937"/>
                </a:solidFill>
              </a:defRPr>
            </a:pPr>
            <a:r>
              <a:rPr sz="1500" b="1">
                <a:solidFill>
                  <a:srgbClr val="1F2937"/>
                </a:solidFill>
              </a:rPr>
              <a:t>Frontend</a:t>
            </a:r>
          </a:p>
        </p:txBody>
      </p:sp>
      <p:sp>
        <p:nvSpPr>
          <p:cNvPr id="4" name="backend-label">
            <a:extLst xmlns:a="http://schemas.openxmlformats.org/drawingml/2006/main">
              <a:ext uri="{FF2B5EF4-FFF2-40B4-BE49-F238E27FC236}">
                <a16:creationId xmlns:a16="http://schemas.microsoft.com/office/drawing/2014/main" id="{9CF6212B-9311-480A-B508-B7BB572E7678}"/>
              </a:ext>
            </a:extLst>
          </p:cNvPr>
          <p:cNvSpPr>
            <a:spLocks xmlns:a="http://schemas.openxmlformats.org/drawingml/2006/main" noGrp="1"/>
          </p:cNvSpPr>
          <p:nvPr/>
        </p:nvSpPr>
        <p:spPr>
          <a:xfrm xmlns:a="http://schemas.openxmlformats.org/drawingml/2006/main">
            <a:off x="3333750" y="1000125"/>
            <a:ext cx="542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ctr">
              <a:defRPr sz="1500" b="1">
                <a:solidFill>
                  <a:srgbClr val="1F2937"/>
                </a:solidFill>
              </a:defRPr>
            </a:defPPr>
          </a:lstStyle>
          <a:p xmlns:a="http://schemas.openxmlformats.org/drawingml/2006/main">
            <a:pPr algn="ctr">
              <a:defRPr sz="1500" b="1">
                <a:solidFill>
                  <a:srgbClr val="1F2937"/>
                </a:solidFill>
              </a:defRPr>
            </a:pPr>
            <a:r>
              <a:rPr sz="1500" b="1">
                <a:solidFill>
                  <a:srgbClr val="1F2937"/>
                </a:solidFill>
              </a:rPr>
              <a:t>Python Backend</a:t>
            </a:r>
          </a:p>
        </p:txBody>
      </p:sp>
      <p:sp>
        <p:nvSpPr>
          <p:cNvPr id="5" name="database-label">
            <a:extLst xmlns:a="http://schemas.openxmlformats.org/drawingml/2006/main">
              <a:ext uri="{FF2B5EF4-FFF2-40B4-BE49-F238E27FC236}">
                <a16:creationId xmlns:a16="http://schemas.microsoft.com/office/drawing/2014/main" id="{2DCDAAC9-F61B-4666-9F33-A6B4E40277B6}"/>
              </a:ext>
            </a:extLst>
          </p:cNvPr>
          <p:cNvSpPr>
            <a:spLocks xmlns:a="http://schemas.openxmlformats.org/drawingml/2006/main" noGrp="1"/>
          </p:cNvSpPr>
          <p:nvPr/>
        </p:nvSpPr>
        <p:spPr>
          <a:xfrm xmlns:a="http://schemas.openxmlformats.org/drawingml/2006/main">
            <a:off x="9286875" y="1000125"/>
            <a:ext cx="2524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ctr">
              <a:defRPr sz="1500" b="1">
                <a:solidFill>
                  <a:srgbClr val="1F2937"/>
                </a:solidFill>
              </a:defRPr>
            </a:defPPr>
          </a:lstStyle>
          <a:p xmlns:a="http://schemas.openxmlformats.org/drawingml/2006/main">
            <a:pPr algn="ctr">
              <a:defRPr sz="1500" b="1">
                <a:solidFill>
                  <a:srgbClr val="1F2937"/>
                </a:solidFill>
              </a:defRPr>
            </a:pPr>
            <a:r>
              <a:rPr sz="1500" b="1">
                <a:solidFill>
                  <a:srgbClr val="1F2937"/>
                </a:solidFill>
              </a:rPr>
              <a:t>Database</a:t>
            </a:r>
          </a:p>
        </p:txBody>
      </p:sp>
      <p:sp>
        <p:nvSpPr>
          <p:cNvPr id="6" name="request">
            <a:extLst xmlns:a="http://schemas.openxmlformats.org/drawingml/2006/main">
              <a:ext uri="{FF2B5EF4-FFF2-40B4-BE49-F238E27FC236}">
                <a16:creationId xmlns:a16="http://schemas.microsoft.com/office/drawing/2014/main" id="{0E921270-7CAC-48A8-A832-DB16CE16E70B}"/>
              </a:ext>
            </a:extLst>
          </p:cNvPr>
          <p:cNvSpPr>
            <a:spLocks xmlns:a="http://schemas.openxmlformats.org/drawingml/2006/main" noGrp="1"/>
          </p:cNvSpPr>
          <p:nvPr/>
        </p:nvSpPr>
        <p:spPr>
          <a:xfrm xmlns:a="http://schemas.openxmlformats.org/drawingml/2006/main">
            <a:off x="323850" y="1428750"/>
            <a:ext cx="2524125" cy="762000"/>
          </a:xfrm>
          <a:prstGeom xmlns:a="http://schemas.openxmlformats.org/drawingml/2006/main" prst="rect">
            <a:avLst/>
          </a:prstGeom>
          <a:solidFill xmlns:a="http://schemas.openxmlformats.org/drawingml/2006/main">
            <a:srgbClr val="FFFFFF"/>
          </a:solidFill>
          <a:ln xmlns:a="http://schemas.openxmlformats.org/drawingml/2006/main" w="12383">
            <a:solidFill>
              <a:srgbClr val="A78BFA"/>
            </a:solidFill>
          </a:ln>
        </p:spPr>
        <p:txBody>
          <a:bodyPr xmlns:a="http://schemas.openxmlformats.org/drawingml/2006/main" lIns="76200" tIns="76200" rIns="76200" bIns="76200" anchor="ctr"/>
          <a:lstStyle xmlns:a="http://schemas.openxmlformats.org/drawingml/2006/main">
            <a:defPPr algn="ctr">
              <a:defRPr sz="1500" b="0">
                <a:solidFill>
                  <a:srgbClr val="1F2937"/>
                </a:solidFill>
              </a:defRPr>
            </a:defPPr>
          </a:lstStyle>
          <a:p xmlns:a="http://schemas.openxmlformats.org/drawingml/2006/main">
            <a:pPr algn="ctr">
              <a:defRPr sz="1500" b="0">
                <a:solidFill>
                  <a:srgbClr val="1F2937"/>
                </a:solidFill>
              </a:defRPr>
            </a:pPr>
            <a:r>
              <a:rPr sz="1500" b="0">
                <a:solidFill>
                  <a:srgbClr val="1F2937"/>
                </a:solidFill>
              </a:rPr>
              <a:t>Select day or week</a:t>
            </a:r>
          </a:p>
          <a:p xmlns:a="http://schemas.openxmlformats.org/drawingml/2006/main">
            <a:pPr algn="ctr">
              <a:defRPr sz="1500" b="0">
                <a:solidFill>
                  <a:srgbClr val="1F2937"/>
                </a:solidFill>
              </a:defRPr>
            </a:pPr>
            <a:r>
              <a:rPr sz="1500" b="0">
                <a:solidFill>
                  <a:srgbClr val="1F2937"/>
                </a:solidFill>
              </a:rPr>
              <a:t>Send HTTP GET request</a:t>
            </a:r>
          </a:p>
        </p:txBody>
      </p:sp>
      <p:sp>
        <p:nvSpPr>
          <p:cNvPr id="7" name="validate">
            <a:extLst xmlns:a="http://schemas.openxmlformats.org/drawingml/2006/main">
              <a:ext uri="{FF2B5EF4-FFF2-40B4-BE49-F238E27FC236}">
                <a16:creationId xmlns:a16="http://schemas.microsoft.com/office/drawing/2014/main" id="{5A8F8065-BB8E-4C03-B31D-A778545DA1C0}"/>
              </a:ext>
            </a:extLst>
          </p:cNvPr>
          <p:cNvSpPr>
            <a:spLocks xmlns:a="http://schemas.openxmlformats.org/drawingml/2006/main" noGrp="1"/>
          </p:cNvSpPr>
          <p:nvPr/>
        </p:nvSpPr>
        <p:spPr>
          <a:xfrm xmlns:a="http://schemas.openxmlformats.org/drawingml/2006/main">
            <a:off x="3381375" y="1428750"/>
            <a:ext cx="2571750" cy="762000"/>
          </a:xfrm>
          <a:prstGeom xmlns:a="http://schemas.openxmlformats.org/drawingml/2006/main" prst="rect">
            <a:avLst/>
          </a:prstGeom>
          <a:solidFill xmlns:a="http://schemas.openxmlformats.org/drawingml/2006/main">
            <a:srgbClr val="F5F3FF"/>
          </a:solidFill>
          <a:ln xmlns:a="http://schemas.openxmlformats.org/drawingml/2006/main" w="12383">
            <a:solidFill>
              <a:srgbClr val="A78BFA"/>
            </a:solidFill>
          </a:ln>
        </p:spPr>
        <p:txBody>
          <a:bodyPr xmlns:a="http://schemas.openxmlformats.org/drawingml/2006/main" lIns="76200" tIns="76200" rIns="76200" bIns="76200" anchor="ctr"/>
          <a:lstStyle xmlns:a="http://schemas.openxmlformats.org/drawingml/2006/main">
            <a:defPPr algn="ctr">
              <a:defRPr sz="1425" b="0">
                <a:solidFill>
                  <a:srgbClr val="1F2937"/>
                </a:solidFill>
              </a:defRPr>
            </a:defPPr>
          </a:lstStyle>
          <a:p xmlns:a="http://schemas.openxmlformats.org/drawingml/2006/main">
            <a:pPr algn="ctr">
              <a:defRPr sz="1425" b="0">
                <a:solidFill>
                  <a:srgbClr val="1F2937"/>
                </a:solidFill>
              </a:defRPr>
            </a:pPr>
            <a:r>
              <a:rPr sz="1425" b="0">
                <a:solidFill>
                  <a:srgbClr val="1F2937"/>
                </a:solidFill>
              </a:rPr>
              <a:t>Validate date range</a:t>
            </a:r>
          </a:p>
          <a:p xmlns:a="http://schemas.openxmlformats.org/drawingml/2006/main">
            <a:pPr algn="ctr">
              <a:defRPr sz="1425" b="0">
                <a:solidFill>
                  <a:srgbClr val="1F2937"/>
                </a:solidFill>
              </a:defRPr>
            </a:pPr>
            <a:r>
              <a:rPr sz="1425" b="0">
                <a:solidFill>
                  <a:srgbClr val="1F2937"/>
                </a:solidFill>
              </a:rPr>
              <a:t>and participant</a:t>
            </a:r>
          </a:p>
        </p:txBody>
      </p:sp>
      <p:sp>
        <p:nvSpPr>
          <p:cNvPr id="8" name="query">
            <a:extLst xmlns:a="http://schemas.openxmlformats.org/drawingml/2006/main">
              <a:ext uri="{FF2B5EF4-FFF2-40B4-BE49-F238E27FC236}">
                <a16:creationId xmlns:a16="http://schemas.microsoft.com/office/drawing/2014/main" id="{89239175-F858-4F4D-880B-9A3C9CDE69CA}"/>
              </a:ext>
            </a:extLst>
          </p:cNvPr>
          <p:cNvSpPr>
            <a:spLocks xmlns:a="http://schemas.openxmlformats.org/drawingml/2006/main" noGrp="1"/>
          </p:cNvSpPr>
          <p:nvPr/>
        </p:nvSpPr>
        <p:spPr>
          <a:xfrm xmlns:a="http://schemas.openxmlformats.org/drawingml/2006/main">
            <a:off x="6524625" y="1428750"/>
            <a:ext cx="2571750" cy="762000"/>
          </a:xfrm>
          <a:prstGeom xmlns:a="http://schemas.openxmlformats.org/drawingml/2006/main" prst="rect">
            <a:avLst/>
          </a:prstGeom>
          <a:solidFill xmlns:a="http://schemas.openxmlformats.org/drawingml/2006/main">
            <a:srgbClr val="F5F3FF"/>
          </a:solidFill>
          <a:ln xmlns:a="http://schemas.openxmlformats.org/drawingml/2006/main" w="12383">
            <a:solidFill>
              <a:srgbClr val="A78BFA"/>
            </a:solidFill>
          </a:ln>
        </p:spPr>
        <p:txBody>
          <a:bodyPr xmlns:a="http://schemas.openxmlformats.org/drawingml/2006/main" lIns="76200" tIns="76200" rIns="76200" bIns="76200" anchor="ctr"/>
          <a:lstStyle xmlns:a="http://schemas.openxmlformats.org/drawingml/2006/main">
            <a:defPPr algn="ctr">
              <a:defRPr sz="1425" b="0">
                <a:solidFill>
                  <a:srgbClr val="1F2937"/>
                </a:solidFill>
              </a:defRPr>
            </a:defPPr>
          </a:lstStyle>
          <a:p xmlns:a="http://schemas.openxmlformats.org/drawingml/2006/main">
            <a:pPr algn="ctr">
              <a:defRPr sz="1425" b="0">
                <a:solidFill>
                  <a:srgbClr val="1F2937"/>
                </a:solidFill>
              </a:defRPr>
            </a:pPr>
            <a:r>
              <a:rPr sz="1425" b="0">
                <a:solidFill>
                  <a:srgbClr val="1F2937"/>
                </a:solidFill>
              </a:rPr>
              <a:t>Fetch daily_values</a:t>
            </a:r>
          </a:p>
          <a:p xmlns:a="http://schemas.openxmlformats.org/drawingml/2006/main">
            <a:pPr algn="ctr">
              <a:defRPr sz="1425" b="0">
                <a:solidFill>
                  <a:srgbClr val="1F2937"/>
                </a:solidFill>
              </a:defRPr>
            </a:pPr>
            <a:r>
              <a:rPr sz="1425" b="0">
                <a:solidFill>
                  <a:srgbClr val="1F2937"/>
                </a:solidFill>
              </a:rPr>
              <a:t>SQL SELECT by date</a:t>
            </a:r>
          </a:p>
        </p:txBody>
      </p:sp>
      <p:sp>
        <p:nvSpPr>
          <p:cNvPr id="9" name="database">
            <a:extLst xmlns:a="http://schemas.openxmlformats.org/drawingml/2006/main">
              <a:ext uri="{FF2B5EF4-FFF2-40B4-BE49-F238E27FC236}">
                <a16:creationId xmlns:a16="http://schemas.microsoft.com/office/drawing/2014/main" id="{0D06989D-199B-454B-BAAA-B43C10095E6D}"/>
              </a:ext>
            </a:extLst>
          </p:cNvPr>
          <p:cNvSpPr>
            <a:spLocks xmlns:a="http://schemas.openxmlformats.org/drawingml/2006/main" noGrp="1"/>
          </p:cNvSpPr>
          <p:nvPr/>
        </p:nvSpPr>
        <p:spPr>
          <a:xfrm xmlns:a="http://schemas.openxmlformats.org/drawingml/2006/main">
            <a:off x="9620250" y="1428750"/>
            <a:ext cx="2238375" cy="762000"/>
          </a:xfrm>
          <a:prstGeom xmlns:a="http://schemas.openxmlformats.org/drawingml/2006/main" prst="rect">
            <a:avLst/>
          </a:prstGeom>
          <a:solidFill xmlns:a="http://schemas.openxmlformats.org/drawingml/2006/main">
            <a:srgbClr val="EFF6FF"/>
          </a:solidFill>
          <a:ln xmlns:a="http://schemas.openxmlformats.org/drawingml/2006/main" w="12383">
            <a:solidFill>
              <a:srgbClr val="A78BFA"/>
            </a:solidFill>
          </a:ln>
        </p:spPr>
        <p:txBody>
          <a:bodyPr xmlns:a="http://schemas.openxmlformats.org/drawingml/2006/main" lIns="76200" tIns="76200" rIns="76200" bIns="76200" anchor="ctr"/>
          <a:lstStyle xmlns:a="http://schemas.openxmlformats.org/drawingml/2006/main">
            <a:defPPr algn="ctr">
              <a:defRPr sz="1425" b="0">
                <a:solidFill>
                  <a:srgbClr val="1F2937"/>
                </a:solidFill>
              </a:defRPr>
            </a:defPPr>
          </a:lstStyle>
          <a:p xmlns:a="http://schemas.openxmlformats.org/drawingml/2006/main">
            <a:pPr algn="ctr">
              <a:defRPr sz="1425" b="0">
                <a:solidFill>
                  <a:srgbClr val="1F2937"/>
                </a:solidFill>
              </a:defRPr>
            </a:pPr>
            <a:r>
              <a:rPr sz="1425" b="0">
                <a:solidFill>
                  <a:srgbClr val="1F2937"/>
                </a:solidFill>
              </a:rPr>
              <a:t>daily_values</a:t>
            </a:r>
          </a:p>
          <a:p xmlns:a="http://schemas.openxmlformats.org/drawingml/2006/main">
            <a:pPr algn="ctr">
              <a:defRPr sz="1425" b="0">
                <a:solidFill>
                  <a:srgbClr val="1F2937"/>
                </a:solidFill>
              </a:defRPr>
            </a:pPr>
            <a:r>
              <a:rPr sz="1425" b="0">
                <a:solidFill>
                  <a:srgbClr val="1F2937"/>
                </a:solidFill>
              </a:rPr>
              <a:t>Sleep, heart rate, steps</a:t>
            </a:r>
          </a:p>
        </p:txBody>
      </p:sp>
      <p:sp>
        <p:nvSpPr>
          <p:cNvPr id="13" name="records">
            <a:extLst xmlns:a="http://schemas.openxmlformats.org/drawingml/2006/main">
              <a:ext uri="{FF2B5EF4-FFF2-40B4-BE49-F238E27FC236}">
                <a16:creationId xmlns:a16="http://schemas.microsoft.com/office/drawing/2014/main" id="{17C12F60-EFD8-45EA-BE77-946B2A3B281C}"/>
              </a:ext>
            </a:extLst>
          </p:cNvPr>
          <p:cNvSpPr>
            <a:spLocks xmlns:a="http://schemas.openxmlformats.org/drawingml/2006/main" noGrp="1"/>
          </p:cNvSpPr>
          <p:nvPr/>
        </p:nvSpPr>
        <p:spPr>
          <a:xfrm xmlns:a="http://schemas.openxmlformats.org/drawingml/2006/main">
            <a:off x="9620250" y="2762250"/>
            <a:ext cx="2238375" cy="762000"/>
          </a:xfrm>
          <a:prstGeom xmlns:a="http://schemas.openxmlformats.org/drawingml/2006/main" prst="rect">
            <a:avLst/>
          </a:prstGeom>
          <a:solidFill xmlns:a="http://schemas.openxmlformats.org/drawingml/2006/main">
            <a:srgbClr val="F5F3FF"/>
          </a:solidFill>
          <a:ln xmlns:a="http://schemas.openxmlformats.org/drawingml/2006/main" w="12383">
            <a:solidFill>
              <a:srgbClr val="A78BFA"/>
            </a:solidFill>
          </a:ln>
        </p:spPr>
        <p:txBody>
          <a:bodyPr xmlns:a="http://schemas.openxmlformats.org/drawingml/2006/main" lIns="76200" tIns="76200" rIns="76200" bIns="76200" anchor="ctr"/>
          <a:lstStyle xmlns:a="http://schemas.openxmlformats.org/drawingml/2006/main">
            <a:defPPr algn="ctr">
              <a:defRPr sz="1350" b="0">
                <a:solidFill>
                  <a:srgbClr val="1F2937"/>
                </a:solidFill>
              </a:defRPr>
            </a:defPPr>
          </a:lstStyle>
          <a:p xmlns:a="http://schemas.openxmlformats.org/drawingml/2006/main">
            <a:pPr algn="ctr">
              <a:defRPr sz="1350" b="0">
                <a:solidFill>
                  <a:srgbClr val="1F2937"/>
                </a:solidFill>
              </a:defRPr>
            </a:pPr>
            <a:r>
              <a:rPr sz="1350" b="0">
                <a:solidFill>
                  <a:srgbClr val="1F2937"/>
                </a:solidFill>
              </a:rPr>
              <a:t>Read returned records</a:t>
            </a:r>
          </a:p>
          <a:p xmlns:a="http://schemas.openxmlformats.org/drawingml/2006/main">
            <a:pPr algn="ctr">
              <a:defRPr sz="1350" b="0">
                <a:solidFill>
                  <a:srgbClr val="1F2937"/>
                </a:solidFill>
              </a:defRPr>
            </a:pPr>
            <a:r>
              <a:rPr sz="1350" b="0">
                <a:solidFill>
                  <a:srgbClr val="1F2937"/>
                </a:solidFill>
              </a:rPr>
              <a:t>into a pandas table</a:t>
            </a:r>
          </a:p>
        </p:txBody>
      </p:sp>
      <p:sp>
        <p:nvSpPr>
          <p:cNvPr id="14" name="prepare">
            <a:extLst xmlns:a="http://schemas.openxmlformats.org/drawingml/2006/main">
              <a:ext uri="{FF2B5EF4-FFF2-40B4-BE49-F238E27FC236}">
                <a16:creationId xmlns:a16="http://schemas.microsoft.com/office/drawing/2014/main" id="{02F22807-332A-4767-B833-ACDE01A5329C}"/>
              </a:ext>
            </a:extLst>
          </p:cNvPr>
          <p:cNvSpPr>
            <a:spLocks xmlns:a="http://schemas.openxmlformats.org/drawingml/2006/main" noGrp="1"/>
          </p:cNvSpPr>
          <p:nvPr/>
        </p:nvSpPr>
        <p:spPr>
          <a:xfrm xmlns:a="http://schemas.openxmlformats.org/drawingml/2006/main">
            <a:off x="6524625" y="2762250"/>
            <a:ext cx="2571750" cy="762000"/>
          </a:xfrm>
          <a:prstGeom xmlns:a="http://schemas.openxmlformats.org/drawingml/2006/main" prst="rect">
            <a:avLst/>
          </a:prstGeom>
          <a:solidFill xmlns:a="http://schemas.openxmlformats.org/drawingml/2006/main">
            <a:srgbClr val="F5F3FF"/>
          </a:solidFill>
          <a:ln xmlns:a="http://schemas.openxmlformats.org/drawingml/2006/main" w="12383">
            <a:solidFill>
              <a:srgbClr val="A78BFA"/>
            </a:solidFill>
          </a:ln>
        </p:spPr>
        <p:txBody>
          <a:bodyPr xmlns:a="http://schemas.openxmlformats.org/drawingml/2006/main" lIns="76200" tIns="76200" rIns="76200" bIns="76200" anchor="ctr"/>
          <a:lstStyle xmlns:a="http://schemas.openxmlformats.org/drawingml/2006/main">
            <a:defPPr algn="ctr">
              <a:defRPr sz="1425" b="0">
                <a:solidFill>
                  <a:srgbClr val="1F2937"/>
                </a:solidFill>
              </a:defRPr>
            </a:defPPr>
          </a:lstStyle>
          <a:p xmlns:a="http://schemas.openxmlformats.org/drawingml/2006/main">
            <a:pPr algn="ctr">
              <a:defRPr sz="1425" b="0">
                <a:solidFill>
                  <a:srgbClr val="1F2937"/>
                </a:solidFill>
              </a:defRPr>
            </a:pPr>
            <a:r>
              <a:rPr sz="1425" b="0">
                <a:solidFill>
                  <a:srgbClr val="1F2937"/>
                </a:solidFill>
              </a:rPr>
              <a:t>Align dates and units</a:t>
            </a:r>
          </a:p>
          <a:p xmlns:a="http://schemas.openxmlformats.org/drawingml/2006/main">
            <a:pPr algn="ctr">
              <a:defRPr sz="1425" b="0">
                <a:solidFill>
                  <a:srgbClr val="1F2937"/>
                </a:solidFill>
              </a:defRPr>
            </a:pPr>
            <a:r>
              <a:rPr sz="1425" b="0">
                <a:solidFill>
                  <a:srgbClr val="1F2937"/>
                </a:solidFill>
              </a:rPr>
              <a:t>Keep missing values null</a:t>
            </a:r>
          </a:p>
        </p:txBody>
      </p:sp>
      <p:sp>
        <p:nvSpPr>
          <p:cNvPr id="15" name="aggregate">
            <a:extLst xmlns:a="http://schemas.openxmlformats.org/drawingml/2006/main">
              <a:ext uri="{FF2B5EF4-FFF2-40B4-BE49-F238E27FC236}">
                <a16:creationId xmlns:a16="http://schemas.microsoft.com/office/drawing/2014/main" id="{3F7A1971-74E5-4452-B8FF-7BA5E735246D}"/>
              </a:ext>
            </a:extLst>
          </p:cNvPr>
          <p:cNvSpPr>
            <a:spLocks xmlns:a="http://schemas.openxmlformats.org/drawingml/2006/main" noGrp="1"/>
          </p:cNvSpPr>
          <p:nvPr/>
        </p:nvSpPr>
        <p:spPr>
          <a:xfrm xmlns:a="http://schemas.openxmlformats.org/drawingml/2006/main">
            <a:off x="3381375" y="2762250"/>
            <a:ext cx="2571750" cy="762000"/>
          </a:xfrm>
          <a:prstGeom xmlns:a="http://schemas.openxmlformats.org/drawingml/2006/main" prst="rect">
            <a:avLst/>
          </a:prstGeom>
          <a:solidFill xmlns:a="http://schemas.openxmlformats.org/drawingml/2006/main">
            <a:srgbClr val="F5F3FF"/>
          </a:solidFill>
          <a:ln xmlns:a="http://schemas.openxmlformats.org/drawingml/2006/main" w="12383">
            <a:solidFill>
              <a:srgbClr val="A78BFA"/>
            </a:solidFill>
          </a:ln>
        </p:spPr>
        <p:txBody>
          <a:bodyPr xmlns:a="http://schemas.openxmlformats.org/drawingml/2006/main" lIns="76200" tIns="76200" rIns="76200" bIns="76200" anchor="ctr"/>
          <a:lstStyle xmlns:a="http://schemas.openxmlformats.org/drawingml/2006/main">
            <a:defPPr algn="ctr">
              <a:defRPr sz="1350" b="0">
                <a:solidFill>
                  <a:srgbClr val="1F2937"/>
                </a:solidFill>
              </a:defRPr>
            </a:defPPr>
          </a:lstStyle>
          <a:p xmlns:a="http://schemas.openxmlformats.org/drawingml/2006/main">
            <a:pPr algn="ctr">
              <a:defRPr sz="1350" b="0">
                <a:solidFill>
                  <a:srgbClr val="1F2937"/>
                </a:solidFill>
              </a:defRPr>
            </a:pPr>
            <a:r>
              <a:rPr sz="1350" b="0">
                <a:solidFill>
                  <a:srgbClr val="1F2937"/>
                </a:solidFill>
              </a:rPr>
              <a:t>Build daily or weekly output</a:t>
            </a:r>
          </a:p>
          <a:p xmlns:a="http://schemas.openxmlformats.org/drawingml/2006/main">
            <a:pPr algn="ctr">
              <a:defRPr sz="1350" b="0">
                <a:solidFill>
                  <a:srgbClr val="1F2937"/>
                </a:solidFill>
              </a:defRPr>
            </a:pPr>
            <a:r>
              <a:rPr sz="1350" b="0">
                <a:solidFill>
                  <a:srgbClr val="1F2937"/>
                </a:solidFill>
              </a:rPr>
              <a:t>Totals, averages, valid counts</a:t>
            </a:r>
          </a:p>
        </p:txBody>
      </p:sp>
      <p:sp>
        <p:nvSpPr>
          <p:cNvPr id="16" name="json">
            <a:extLst xmlns:a="http://schemas.openxmlformats.org/drawingml/2006/main">
              <a:ext uri="{FF2B5EF4-FFF2-40B4-BE49-F238E27FC236}">
                <a16:creationId xmlns:a16="http://schemas.microsoft.com/office/drawing/2014/main" id="{D669E081-39B3-440B-ACAA-B7E003529DCE}"/>
              </a:ext>
            </a:extLst>
          </p:cNvPr>
          <p:cNvSpPr>
            <a:spLocks xmlns:a="http://schemas.openxmlformats.org/drawingml/2006/main" noGrp="1"/>
          </p:cNvSpPr>
          <p:nvPr/>
        </p:nvSpPr>
        <p:spPr>
          <a:xfrm xmlns:a="http://schemas.openxmlformats.org/drawingml/2006/main">
            <a:off x="323850" y="2762250"/>
            <a:ext cx="2524125" cy="762000"/>
          </a:xfrm>
          <a:prstGeom xmlns:a="http://schemas.openxmlformats.org/drawingml/2006/main" prst="rect">
            <a:avLst/>
          </a:prstGeom>
          <a:solidFill xmlns:a="http://schemas.openxmlformats.org/drawingml/2006/main">
            <a:srgbClr val="F5F3FF"/>
          </a:solidFill>
          <a:ln xmlns:a="http://schemas.openxmlformats.org/drawingml/2006/main" w="12383">
            <a:solidFill>
              <a:srgbClr val="A78BFA"/>
            </a:solidFill>
          </a:ln>
        </p:spPr>
        <p:txBody>
          <a:bodyPr xmlns:a="http://schemas.openxmlformats.org/drawingml/2006/main" lIns="76200" tIns="76200" rIns="76200" bIns="76200" anchor="ctr"/>
          <a:lstStyle xmlns:a="http://schemas.openxmlformats.org/drawingml/2006/main">
            <a:defPPr algn="ctr">
              <a:defRPr sz="1350" b="0">
                <a:solidFill>
                  <a:srgbClr val="1F2937"/>
                </a:solidFill>
              </a:defRPr>
            </a:defPPr>
          </a:lstStyle>
          <a:p xmlns:a="http://schemas.openxmlformats.org/drawingml/2006/main">
            <a:pPr algn="ctr">
              <a:defRPr sz="1350" b="0">
                <a:solidFill>
                  <a:srgbClr val="1F2937"/>
                </a:solidFill>
              </a:defRPr>
            </a:pPr>
            <a:r>
              <a:rPr sz="1350" b="0">
                <a:solidFill>
                  <a:srgbClr val="1F2937"/>
                </a:solidFill>
              </a:rPr>
              <a:t>Create JSON response</a:t>
            </a:r>
          </a:p>
          <a:p xmlns:a="http://schemas.openxmlformats.org/drawingml/2006/main">
            <a:pPr algn="ctr">
              <a:defRPr sz="1350" b="0">
                <a:solidFill>
                  <a:srgbClr val="1F2937"/>
                </a:solidFill>
              </a:defRPr>
            </a:pPr>
            <a:r>
              <a:rPr sz="1350" b="0">
                <a:solidFill>
                  <a:srgbClr val="1F2937"/>
                </a:solidFill>
              </a:rPr>
              <a:t>Dates, metrics, gap flags</a:t>
            </a:r>
          </a:p>
        </p:txBody>
      </p:sp>
      <p:sp>
        <p:nvSpPr>
          <p:cNvPr id="21" name="frontend">
            <a:extLst xmlns:a="http://schemas.openxmlformats.org/drawingml/2006/main">
              <a:ext uri="{FF2B5EF4-FFF2-40B4-BE49-F238E27FC236}">
                <a16:creationId xmlns:a16="http://schemas.microsoft.com/office/drawing/2014/main" id="{32CD7B3F-2C3A-4E70-84FF-E7AA69E3CDFA}"/>
              </a:ext>
            </a:extLst>
          </p:cNvPr>
          <p:cNvSpPr>
            <a:spLocks xmlns:a="http://schemas.openxmlformats.org/drawingml/2006/main" noGrp="1"/>
          </p:cNvSpPr>
          <p:nvPr/>
        </p:nvSpPr>
        <p:spPr>
          <a:xfrm xmlns:a="http://schemas.openxmlformats.org/drawingml/2006/main">
            <a:off x="323850" y="4048125"/>
            <a:ext cx="11534775" cy="619125"/>
          </a:xfrm>
          <a:prstGeom xmlns:a="http://schemas.openxmlformats.org/drawingml/2006/main" prst="rect">
            <a:avLst/>
          </a:prstGeom>
          <a:solidFill xmlns:a="http://schemas.openxmlformats.org/drawingml/2006/main">
            <a:srgbClr val="EFF6FF"/>
          </a:solidFill>
          <a:ln xmlns:a="http://schemas.openxmlformats.org/drawingml/2006/main" w="12383">
            <a:solidFill>
              <a:srgbClr val="A78BFA"/>
            </a:solidFill>
          </a:ln>
        </p:spPr>
        <p:txBody>
          <a:bodyPr xmlns:a="http://schemas.openxmlformats.org/drawingml/2006/main" lIns="76200" tIns="76200" rIns="76200" bIns="76200" anchor="ctr"/>
          <a:lstStyle xmlns:a="http://schemas.openxmlformats.org/drawingml/2006/main">
            <a:defPPr algn="ctr">
              <a:defRPr sz="1650" b="1">
                <a:solidFill>
                  <a:srgbClr val="1F2937"/>
                </a:solidFill>
              </a:defRPr>
            </a:defPPr>
          </a:lstStyle>
          <a:p xmlns:a="http://schemas.openxmlformats.org/drawingml/2006/main">
            <a:pPr algn="ctr">
              <a:defRPr sz="1650" b="1">
                <a:solidFill>
                  <a:srgbClr val="1F2937"/>
                </a:solidFill>
              </a:defRPr>
            </a:pPr>
            <a:r>
              <a:rPr sz="1650" b="1">
                <a:solidFill>
                  <a:srgbClr val="1F2937"/>
                </a:solidFill>
              </a:rPr>
              <a:t>Frontend receives JSON</a:t>
            </a:r>
          </a:p>
          <a:p xmlns:a="http://schemas.openxmlformats.org/drawingml/2006/main">
            <a:pPr algn="ctr">
              <a:defRPr sz="1650" b="1">
                <a:solidFill>
                  <a:srgbClr val="1F2937"/>
                </a:solidFill>
              </a:defRPr>
            </a:pPr>
            <a:r>
              <a:rPr sz="1650" b="1">
                <a:solidFill>
                  <a:srgbClr val="1F2937"/>
                </a:solidFill>
              </a:rPr>
              <a:t>Map output to dashboard displays</a:t>
            </a:r>
          </a:p>
        </p:txBody>
      </p:sp>
      <p:sp>
        <p:nvSpPr>
          <p:cNvPr id="23" name="sleep-output">
            <a:extLst xmlns:a="http://schemas.openxmlformats.org/drawingml/2006/main">
              <a:ext uri="{FF2B5EF4-FFF2-40B4-BE49-F238E27FC236}">
                <a16:creationId xmlns:a16="http://schemas.microsoft.com/office/drawing/2014/main" id="{7C05CB39-A861-4F25-AB1E-A9BFDFC5A267}"/>
              </a:ext>
            </a:extLst>
          </p:cNvPr>
          <p:cNvSpPr>
            <a:spLocks xmlns:a="http://schemas.openxmlformats.org/drawingml/2006/main" noGrp="1"/>
          </p:cNvSpPr>
          <p:nvPr/>
        </p:nvSpPr>
        <p:spPr>
          <a:xfrm xmlns:a="http://schemas.openxmlformats.org/drawingml/2006/main">
            <a:off x="323850" y="5286375"/>
            <a:ext cx="3381375" cy="933450"/>
          </a:xfrm>
          <a:prstGeom xmlns:a="http://schemas.openxmlformats.org/drawingml/2006/main" prst="rect">
            <a:avLst/>
          </a:prstGeom>
          <a:solidFill xmlns:a="http://schemas.openxmlformats.org/drawingml/2006/main">
            <a:srgbClr val="FFFFFF"/>
          </a:solidFill>
          <a:ln xmlns:a="http://schemas.openxmlformats.org/drawingml/2006/main" w="12383">
            <a:solidFill>
              <a:srgbClr val="A78BFA"/>
            </a:solidFill>
          </a:ln>
        </p:spPr>
        <p:txBody>
          <a:bodyPr xmlns:a="http://schemas.openxmlformats.org/drawingml/2006/main" lIns="76200" tIns="76200" rIns="76200" bIns="76200" anchor="ctr"/>
          <a:lstStyle xmlns:a="http://schemas.openxmlformats.org/drawingml/2006/main">
            <a:defPPr algn="ctr">
              <a:defRPr sz="1500" b="0">
                <a:solidFill>
                  <a:srgbClr val="1F2937"/>
                </a:solidFill>
              </a:defRPr>
            </a:defPPr>
          </a:lstStyle>
          <a:p xmlns:a="http://schemas.openxmlformats.org/drawingml/2006/main">
            <a:pPr algn="ctr">
              <a:defRPr sz="1500" b="0">
                <a:solidFill>
                  <a:srgbClr val="1F2937"/>
                </a:solidFill>
              </a:defRPr>
            </a:pPr>
            <a:r>
              <a:rPr sz="1500" b="0">
                <a:solidFill>
                  <a:srgbClr val="1F2937"/>
                </a:solidFill>
              </a:rPr>
              <a:t>Sleep display</a:t>
            </a:r>
          </a:p>
          <a:p xmlns:a="http://schemas.openxmlformats.org/drawingml/2006/main">
            <a:pPr algn="ctr">
              <a:defRPr sz="1500" b="0">
                <a:solidFill>
                  <a:srgbClr val="1F2937"/>
                </a:solidFill>
              </a:defRPr>
            </a:pPr>
            <a:r>
              <a:rPr sz="1500" b="0">
                <a:solidFill>
                  <a:srgbClr val="1F2937"/>
                </a:solidFill>
              </a:rPr>
              <a:t>Duration, bedtime, wake time</a:t>
            </a:r>
          </a:p>
          <a:p xmlns:a="http://schemas.openxmlformats.org/drawingml/2006/main">
            <a:pPr algn="ctr">
              <a:defRPr sz="1500" b="0">
                <a:solidFill>
                  <a:srgbClr val="1F2937"/>
                </a:solidFill>
              </a:defRPr>
            </a:pPr>
            <a:r>
              <a:rPr sz="1500" b="0">
                <a:solidFill>
                  <a:srgbClr val="1F2937"/>
                </a:solidFill>
              </a:rPr>
              <a:t>Available stages or awakenings</a:t>
            </a:r>
          </a:p>
        </p:txBody>
      </p:sp>
      <p:sp>
        <p:nvSpPr>
          <p:cNvPr id="24" name="heart-output">
            <a:extLst xmlns:a="http://schemas.openxmlformats.org/drawingml/2006/main">
              <a:ext uri="{FF2B5EF4-FFF2-40B4-BE49-F238E27FC236}">
                <a16:creationId xmlns:a16="http://schemas.microsoft.com/office/drawing/2014/main" id="{B45FED29-D639-4241-888E-E2ECDBF2F9C5}"/>
              </a:ext>
            </a:extLst>
          </p:cNvPr>
          <p:cNvSpPr>
            <a:spLocks xmlns:a="http://schemas.openxmlformats.org/drawingml/2006/main" noGrp="1"/>
          </p:cNvSpPr>
          <p:nvPr/>
        </p:nvSpPr>
        <p:spPr>
          <a:xfrm xmlns:a="http://schemas.openxmlformats.org/drawingml/2006/main">
            <a:off x="4400550" y="5286375"/>
            <a:ext cx="3381375" cy="933450"/>
          </a:xfrm>
          <a:prstGeom xmlns:a="http://schemas.openxmlformats.org/drawingml/2006/main" prst="rect">
            <a:avLst/>
          </a:prstGeom>
          <a:solidFill xmlns:a="http://schemas.openxmlformats.org/drawingml/2006/main">
            <a:srgbClr val="FFFFFF"/>
          </a:solidFill>
          <a:ln xmlns:a="http://schemas.openxmlformats.org/drawingml/2006/main" w="12383">
            <a:solidFill>
              <a:srgbClr val="A78BFA"/>
            </a:solidFill>
          </a:ln>
        </p:spPr>
        <p:txBody>
          <a:bodyPr xmlns:a="http://schemas.openxmlformats.org/drawingml/2006/main" lIns="76200" tIns="76200" rIns="76200" bIns="76200" anchor="ctr"/>
          <a:lstStyle xmlns:a="http://schemas.openxmlformats.org/drawingml/2006/main">
            <a:defPPr algn="ctr">
              <a:defRPr sz="1500" b="0">
                <a:solidFill>
                  <a:srgbClr val="1F2937"/>
                </a:solidFill>
              </a:defRPr>
            </a:defPPr>
          </a:lstStyle>
          <a:p xmlns:a="http://schemas.openxmlformats.org/drawingml/2006/main">
            <a:pPr algn="ctr">
              <a:defRPr sz="1500" b="0">
                <a:solidFill>
                  <a:srgbClr val="1F2937"/>
                </a:solidFill>
              </a:defRPr>
            </a:pPr>
            <a:r>
              <a:rPr sz="1500" b="0">
                <a:solidFill>
                  <a:srgbClr val="1F2937"/>
                </a:solidFill>
              </a:rPr>
              <a:t>Heart rate display</a:t>
            </a:r>
          </a:p>
          <a:p xmlns:a="http://schemas.openxmlformats.org/drawingml/2006/main">
            <a:pPr algn="ctr">
              <a:defRPr sz="1500" b="0">
                <a:solidFill>
                  <a:srgbClr val="1F2937"/>
                </a:solidFill>
              </a:defRPr>
            </a:pPr>
            <a:r>
              <a:rPr sz="1500" b="0">
                <a:solidFill>
                  <a:srgbClr val="1F2937"/>
                </a:solidFill>
              </a:rPr>
              <a:t>Resting bpm when available</a:t>
            </a:r>
          </a:p>
          <a:p xmlns:a="http://schemas.openxmlformats.org/drawingml/2006/main">
            <a:pPr algn="ctr">
              <a:defRPr sz="1500" b="0">
                <a:solidFill>
                  <a:srgbClr val="1F2937"/>
                </a:solidFill>
              </a:defRPr>
            </a:pPr>
            <a:r>
              <a:rPr sz="1500" b="0">
                <a:solidFill>
                  <a:srgbClr val="1F2937"/>
                </a:solidFill>
              </a:rPr>
              <a:t>Daily and weekly trends</a:t>
            </a:r>
          </a:p>
        </p:txBody>
      </p:sp>
      <p:sp>
        <p:nvSpPr>
          <p:cNvPr id="25" name="step-output">
            <a:extLst xmlns:a="http://schemas.openxmlformats.org/drawingml/2006/main">
              <a:ext uri="{FF2B5EF4-FFF2-40B4-BE49-F238E27FC236}">
                <a16:creationId xmlns:a16="http://schemas.microsoft.com/office/drawing/2014/main" id="{6AA240A8-D075-4250-9D9A-DD3028097C66}"/>
              </a:ext>
            </a:extLst>
          </p:cNvPr>
          <p:cNvSpPr>
            <a:spLocks xmlns:a="http://schemas.openxmlformats.org/drawingml/2006/main" noGrp="1"/>
          </p:cNvSpPr>
          <p:nvPr/>
        </p:nvSpPr>
        <p:spPr>
          <a:xfrm xmlns:a="http://schemas.openxmlformats.org/drawingml/2006/main">
            <a:off x="8477250" y="5286375"/>
            <a:ext cx="3381375" cy="933450"/>
          </a:xfrm>
          <a:prstGeom xmlns:a="http://schemas.openxmlformats.org/drawingml/2006/main" prst="rect">
            <a:avLst/>
          </a:prstGeom>
          <a:solidFill xmlns:a="http://schemas.openxmlformats.org/drawingml/2006/main">
            <a:srgbClr val="FFFFFF"/>
          </a:solidFill>
          <a:ln xmlns:a="http://schemas.openxmlformats.org/drawingml/2006/main" w="12383">
            <a:solidFill>
              <a:srgbClr val="A78BFA"/>
            </a:solidFill>
          </a:ln>
        </p:spPr>
        <p:txBody>
          <a:bodyPr xmlns:a="http://schemas.openxmlformats.org/drawingml/2006/main" lIns="76200" tIns="76200" rIns="76200" bIns="76200" anchor="ctr"/>
          <a:lstStyle xmlns:a="http://schemas.openxmlformats.org/drawingml/2006/main">
            <a:defPPr algn="ctr">
              <a:defRPr sz="1500" b="0">
                <a:solidFill>
                  <a:srgbClr val="1F2937"/>
                </a:solidFill>
              </a:defRPr>
            </a:defPPr>
          </a:lstStyle>
          <a:p xmlns:a="http://schemas.openxmlformats.org/drawingml/2006/main">
            <a:pPr algn="ctr">
              <a:defRPr sz="1500" b="0">
                <a:solidFill>
                  <a:srgbClr val="1F2937"/>
                </a:solidFill>
              </a:defRPr>
            </a:pPr>
            <a:r>
              <a:rPr sz="1500" b="0">
                <a:solidFill>
                  <a:srgbClr val="1F2937"/>
                </a:solidFill>
              </a:rPr>
              <a:t>Steps count display</a:t>
            </a:r>
          </a:p>
          <a:p xmlns:a="http://schemas.openxmlformats.org/drawingml/2006/main">
            <a:pPr algn="ctr">
              <a:defRPr sz="1500" b="0">
                <a:solidFill>
                  <a:srgbClr val="1F2937"/>
                </a:solidFill>
              </a:defRPr>
            </a:pPr>
            <a:r>
              <a:rPr sz="1500" b="0">
                <a:solidFill>
                  <a:srgbClr val="1F2937"/>
                </a:solidFill>
              </a:rPr>
              <a:t>Daily count and weekly total</a:t>
            </a:r>
          </a:p>
          <a:p xmlns:a="http://schemas.openxmlformats.org/drawingml/2006/main">
            <a:pPr algn="ctr">
              <a:defRPr sz="1500" b="0">
                <a:solidFill>
                  <a:srgbClr val="1F2937"/>
                </a:solidFill>
              </a:defRPr>
            </a:pPr>
            <a:r>
              <a:rPr sz="1500" b="0">
                <a:solidFill>
                  <a:srgbClr val="1F2937"/>
                </a:solidFill>
              </a:rPr>
              <a:t>Days with data</a:t>
            </a:r>
          </a:p>
        </p:txBody>
      </p:sp>
      <p:sp>
        <p:nvSpPr>
          <p:cNvPr id="29" name="gap-note">
            <a:extLst xmlns:a="http://schemas.openxmlformats.org/drawingml/2006/main">
              <a:ext uri="{FF2B5EF4-FFF2-40B4-BE49-F238E27FC236}">
                <a16:creationId xmlns:a16="http://schemas.microsoft.com/office/drawing/2014/main" id="{0A26B980-476A-43CC-A335-66D9AD84DDC2}"/>
              </a:ext>
            </a:extLst>
          </p:cNvPr>
          <p:cNvSpPr>
            <a:spLocks xmlns:a="http://schemas.openxmlformats.org/drawingml/2006/main" noGrp="1"/>
          </p:cNvSpPr>
          <p:nvPr/>
        </p:nvSpPr>
        <p:spPr>
          <a:xfrm xmlns:a="http://schemas.openxmlformats.org/drawingml/2006/main">
            <a:off x="323850" y="6410325"/>
            <a:ext cx="11525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ctr">
              <a:defRPr sz="1275" b="0">
                <a:solidFill>
                  <a:srgbClr val="1F2937"/>
                </a:solidFill>
              </a:defRPr>
            </a:defPPr>
          </a:lstStyle>
          <a:p xmlns:a="http://schemas.openxmlformats.org/drawingml/2006/main">
            <a:pPr algn="ctr">
              <a:defRPr sz="1275" b="0">
                <a:solidFill>
                  <a:srgbClr val="1F2937"/>
                </a:solidFill>
              </a:defRPr>
            </a:pPr>
            <a:r>
              <a:rPr sz="1275" b="0">
                <a:solidFill>
                  <a:srgbClr val="1F2937"/>
                </a:solidFill>
              </a:rPr>
              <a:t>Missing data stays missing. Weekly averages use valid days only.</a:t>
            </a:r>
          </a:p>
        </p:txBody>
      </p:sp>
    </p:spTree>
    <p:extLst>
      <p:ext uri="{BB962C8B-B14F-4D97-AF65-F5344CB8AC3E}">
        <p14:creationId xmlns:p14="http://schemas.microsoft.com/office/powerpoint/2010/main" val="1456478942"/>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2026-10-12T18:54:49.8060000Z</dcterms:created>
  <dcterms:modified xsi:type="dcterms:W3CDTF">2026-10-12T18:54:49.8060000Z</dcterms:modified>
</coreProperties>
</file>